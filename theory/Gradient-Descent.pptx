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9144000"/>
  <p:notesSz cx="6858000" cy="9144000"/>
  <p:embeddedFontLst>
    <p:embeddedFont>
      <p:font typeface="Archivo Narrow"/>
      <p:regular r:id="rId37"/>
      <p:bold r:id="rId38"/>
      <p:italic r:id="rId39"/>
      <p:boldItalic r:id="rId40"/>
    </p:embeddedFont>
    <p:embeddedFont>
      <p:font typeface="Yellowtail"/>
      <p:regular r:id="rId41"/>
    </p:embeddedFont>
    <p:embeddedFont>
      <p:font typeface="Archivo Narrow Medium"/>
      <p:regular r:id="rId42"/>
      <p:bold r:id="rId43"/>
      <p:italic r:id="rId44"/>
      <p:boldItalic r:id="rId45"/>
    </p:embeddedFont>
    <p:embeddedFont>
      <p:font typeface="IBM Plex Sans Condensed"/>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0" roundtripDataSignature="AMtx7mh+WiWz49XmYhC12ES2PmzTcwkj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F48A68-654B-446A-936C-5DC57466C457}">
  <a:tblStyle styleId="{09F48A68-654B-446A-936C-5DC57466C45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chivoNarrow-boldItalic.fntdata"/><Relationship Id="rId42" Type="http://schemas.openxmlformats.org/officeDocument/2006/relationships/font" Target="fonts/ArchivoNarrowMedium-regular.fntdata"/><Relationship Id="rId41" Type="http://schemas.openxmlformats.org/officeDocument/2006/relationships/font" Target="fonts/Yellowtail-regular.fntdata"/><Relationship Id="rId44" Type="http://schemas.openxmlformats.org/officeDocument/2006/relationships/font" Target="fonts/ArchivoNarrowMedium-italic.fntdata"/><Relationship Id="rId43" Type="http://schemas.openxmlformats.org/officeDocument/2006/relationships/font" Target="fonts/ArchivoNarrowMedium-bold.fntdata"/><Relationship Id="rId46" Type="http://schemas.openxmlformats.org/officeDocument/2006/relationships/font" Target="fonts/IBMPlexSansCondensed-regular.fntdata"/><Relationship Id="rId45" Type="http://schemas.openxmlformats.org/officeDocument/2006/relationships/font" Target="fonts/ArchivoNarrow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IBMPlexSansCondensed-italic.fntdata"/><Relationship Id="rId47" Type="http://schemas.openxmlformats.org/officeDocument/2006/relationships/font" Target="fonts/IBMPlexSansCondensed-bold.fntdata"/><Relationship Id="rId49" Type="http://schemas.openxmlformats.org/officeDocument/2006/relationships/font" Target="fonts/IBMPlexSansCondense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ArchivoNarrow-regular.fntdata"/><Relationship Id="rId36" Type="http://schemas.openxmlformats.org/officeDocument/2006/relationships/slide" Target="slides/slide30.xml"/><Relationship Id="rId39" Type="http://schemas.openxmlformats.org/officeDocument/2006/relationships/font" Target="fonts/ArchivoNarrow-italic.fntdata"/><Relationship Id="rId38" Type="http://schemas.openxmlformats.org/officeDocument/2006/relationships/font" Target="fonts/ArchivoNarrow-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4c8d25141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g3f4c8d25141_0_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4c8d25141_0_7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4c8d25141_0_7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f4c8d25141_0_7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52423cb84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52423cb8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52423cb8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52423cb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52423cb84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52423cb8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52423cb84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52423cb8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52423cb8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52423cb8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52423cb84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52423cb8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52423cb84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52423cb84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52423cb84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52423cb8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52423cb84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52423cb8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52423cb84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52423cb8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52423cb84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52423cb84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f52423cb84_0_1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f52423cb84_0_1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g3f52423cb84_0_12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g3f4c8d25141_0_11"/>
          <p:cNvSpPr txBox="1"/>
          <p:nvPr>
            <p:ph type="ctrTitle"/>
          </p:nvPr>
        </p:nvSpPr>
        <p:spPr>
          <a:xfrm>
            <a:off x="311700" y="1886797"/>
            <a:ext cx="8520600" cy="1842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7" name="Google Shape;17;g3f4c8d25141_0_11"/>
          <p:cNvSpPr txBox="1"/>
          <p:nvPr>
            <p:ph idx="1" type="subTitle"/>
          </p:nvPr>
        </p:nvSpPr>
        <p:spPr>
          <a:xfrm>
            <a:off x="311700" y="3778833"/>
            <a:ext cx="85206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8" name="Google Shape;18;g3f4c8d25141_0_11"/>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g3f4c8d25141_0_11"/>
          <p:cNvSpPr/>
          <p:nvPr/>
        </p:nvSpPr>
        <p:spPr>
          <a:xfrm>
            <a:off x="-7087" y="-30350"/>
            <a:ext cx="9156900" cy="737100"/>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0" name="Google Shape;20;g3f4c8d25141_0_11"/>
          <p:cNvSpPr/>
          <p:nvPr/>
        </p:nvSpPr>
        <p:spPr>
          <a:xfrm>
            <a:off x="-6994" y="154075"/>
            <a:ext cx="9162600" cy="1282500"/>
          </a:xfrm>
          <a:prstGeom prst="roundRect">
            <a:avLst>
              <a:gd fmla="val 10177" name="adj"/>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1" name="Google Shape;21;g3f4c8d25141_0_11"/>
          <p:cNvSpPr/>
          <p:nvPr/>
        </p:nvSpPr>
        <p:spPr>
          <a:xfrm>
            <a:off x="8072663" y="-30350"/>
            <a:ext cx="651600" cy="1467000"/>
          </a:xfrm>
          <a:prstGeom prst="parallelogram">
            <a:avLst>
              <a:gd fmla="val 57856" name="adj"/>
            </a:avLst>
          </a:prstGeom>
          <a:solidFill>
            <a:srgbClr val="D2AE6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2" name="Google Shape;22;g3f4c8d25141_0_11"/>
          <p:cNvSpPr/>
          <p:nvPr/>
        </p:nvSpPr>
        <p:spPr>
          <a:xfrm>
            <a:off x="5785500" y="-30350"/>
            <a:ext cx="2881500" cy="1488900"/>
          </a:xfrm>
          <a:prstGeom prst="parallelogram">
            <a:avLst>
              <a:gd fmla="val 33925" name="adj"/>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3" name="Google Shape;23;g3f4c8d25141_0_11"/>
          <p:cNvSpPr/>
          <p:nvPr/>
        </p:nvSpPr>
        <p:spPr>
          <a:xfrm>
            <a:off x="-6994" y="6604519"/>
            <a:ext cx="9162600" cy="259800"/>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4" name="Google Shape;24;g3f4c8d25141_0_11"/>
          <p:cNvSpPr/>
          <p:nvPr/>
        </p:nvSpPr>
        <p:spPr>
          <a:xfrm>
            <a:off x="-6994" y="5899575"/>
            <a:ext cx="9162600" cy="737100"/>
          </a:xfrm>
          <a:prstGeom prst="roundRect">
            <a:avLst>
              <a:gd fmla="val 10177" name="adj"/>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25" name="Google Shape;25;g3f4c8d25141_0_11"/>
          <p:cNvSpPr txBox="1"/>
          <p:nvPr/>
        </p:nvSpPr>
        <p:spPr>
          <a:xfrm>
            <a:off x="285750" y="5899575"/>
            <a:ext cx="2857500" cy="1339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D2AE6C"/>
                </a:solidFill>
                <a:latin typeface="Archivo Narrow"/>
                <a:ea typeface="Archivo Narrow"/>
                <a:cs typeface="Archivo Narrow"/>
                <a:sym typeface="Archivo Narrow"/>
              </a:rPr>
              <a:t>Mission</a:t>
            </a:r>
            <a:endParaRPr b="1" i="0" sz="1500" u="none" cap="none" strike="noStrike">
              <a:solidFill>
                <a:srgbClr val="D2AE6C"/>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chivo Narrow Medium"/>
                <a:ea typeface="Archivo Narrow Medium"/>
                <a:cs typeface="Archivo Narrow Medium"/>
                <a:sym typeface="Archivo Narrow Medium"/>
              </a:rPr>
              <a:t>Christ University is a nurturing ground for an individual’s holistic development to make effective contribution</a:t>
            </a:r>
            <a:endParaRPr b="0" i="0" sz="1200" u="none" cap="none" strike="noStrike">
              <a:solidFill>
                <a:schemeClr val="lt1"/>
              </a:solidFill>
              <a:latin typeface="Archivo Narrow Medium"/>
              <a:ea typeface="Archivo Narrow Medium"/>
              <a:cs typeface="Archivo Narrow Medium"/>
              <a:sym typeface="Archivo Narrow Medium"/>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chivo Narrow Medium"/>
                <a:ea typeface="Archivo Narrow Medium"/>
                <a:cs typeface="Archivo Narrow Medium"/>
                <a:sym typeface="Archivo Narrow Medium"/>
              </a:rPr>
              <a:t>to the society in a dynamic environment</a:t>
            </a:r>
            <a:endParaRPr b="0" i="0" sz="1200" u="none" cap="none" strike="noStrike">
              <a:solidFill>
                <a:schemeClr val="lt1"/>
              </a:solidFill>
              <a:latin typeface="Archivo Narrow Medium"/>
              <a:ea typeface="Archivo Narrow Medium"/>
              <a:cs typeface="Archivo Narrow Medium"/>
              <a:sym typeface="Archivo Narrow Medium"/>
            </a:endParaRPr>
          </a:p>
        </p:txBody>
      </p:sp>
      <p:sp>
        <p:nvSpPr>
          <p:cNvPr id="26" name="Google Shape;26;g3f4c8d25141_0_11"/>
          <p:cNvSpPr txBox="1"/>
          <p:nvPr/>
        </p:nvSpPr>
        <p:spPr>
          <a:xfrm>
            <a:off x="3143250" y="5899575"/>
            <a:ext cx="2857500" cy="600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D2AE6C"/>
                </a:solidFill>
                <a:latin typeface="Archivo Narrow"/>
                <a:ea typeface="Archivo Narrow"/>
                <a:cs typeface="Archivo Narrow"/>
                <a:sym typeface="Archivo Narrow"/>
              </a:rPr>
              <a:t>Vision</a:t>
            </a:r>
            <a:endParaRPr b="1" i="0" sz="1500" u="none" cap="none" strike="noStrike">
              <a:solidFill>
                <a:srgbClr val="D2AE6C"/>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chivo Narrow Medium"/>
                <a:ea typeface="Archivo Narrow Medium"/>
                <a:cs typeface="Archivo Narrow Medium"/>
                <a:sym typeface="Archivo Narrow Medium"/>
              </a:rPr>
              <a:t>Excellence and Service</a:t>
            </a:r>
            <a:endParaRPr b="0" i="0" sz="1200" u="none" cap="none" strike="noStrike">
              <a:solidFill>
                <a:schemeClr val="lt1"/>
              </a:solidFill>
              <a:latin typeface="Archivo Narrow Medium"/>
              <a:ea typeface="Archivo Narrow Medium"/>
              <a:cs typeface="Archivo Narrow Medium"/>
              <a:sym typeface="Archivo Narrow Medium"/>
            </a:endParaRPr>
          </a:p>
        </p:txBody>
      </p:sp>
      <p:sp>
        <p:nvSpPr>
          <p:cNvPr id="27" name="Google Shape;27;g3f4c8d25141_0_11"/>
          <p:cNvSpPr txBox="1"/>
          <p:nvPr/>
        </p:nvSpPr>
        <p:spPr>
          <a:xfrm>
            <a:off x="6429450" y="5899575"/>
            <a:ext cx="2237400" cy="1339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D2AE6C"/>
                </a:solidFill>
                <a:latin typeface="Archivo Narrow"/>
                <a:ea typeface="Archivo Narrow"/>
                <a:cs typeface="Archivo Narrow"/>
                <a:sym typeface="Archivo Narrow"/>
              </a:rPr>
              <a:t>Core Values</a:t>
            </a:r>
            <a:endParaRPr b="1" i="0" sz="1500" u="none" cap="none" strike="noStrike">
              <a:solidFill>
                <a:srgbClr val="D2AE6C"/>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chivo Narrow Medium"/>
                <a:ea typeface="Archivo Narrow Medium"/>
                <a:cs typeface="Archivo Narrow Medium"/>
                <a:sym typeface="Archivo Narrow Medium"/>
              </a:rPr>
              <a:t>Faith in God |  Moral Uprightness</a:t>
            </a:r>
            <a:endParaRPr b="0" i="0" sz="1200" u="none" cap="none" strike="noStrike">
              <a:solidFill>
                <a:schemeClr val="lt1"/>
              </a:solidFill>
              <a:latin typeface="Archivo Narrow Medium"/>
              <a:ea typeface="Archivo Narrow Medium"/>
              <a:cs typeface="Archivo Narrow Medium"/>
              <a:sym typeface="Archivo Narrow Medium"/>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Archivo Narrow Medium"/>
                <a:ea typeface="Archivo Narrow Medium"/>
                <a:cs typeface="Archivo Narrow Medium"/>
                <a:sym typeface="Archivo Narrow Medium"/>
              </a:rPr>
              <a:t> Love of Fellow Beings |  Social Responsibility</a:t>
            </a:r>
            <a:br>
              <a:rPr b="0" i="0" lang="en-US" sz="1200" u="none" cap="none" strike="noStrike">
                <a:solidFill>
                  <a:schemeClr val="lt1"/>
                </a:solidFill>
                <a:latin typeface="Archivo Narrow Medium"/>
                <a:ea typeface="Archivo Narrow Medium"/>
                <a:cs typeface="Archivo Narrow Medium"/>
                <a:sym typeface="Archivo Narrow Medium"/>
              </a:rPr>
            </a:br>
            <a:r>
              <a:rPr b="0" i="0" lang="en-US" sz="1200" u="none" cap="none" strike="noStrike">
                <a:solidFill>
                  <a:schemeClr val="lt1"/>
                </a:solidFill>
                <a:latin typeface="Archivo Narrow Medium"/>
                <a:ea typeface="Archivo Narrow Medium"/>
                <a:cs typeface="Archivo Narrow Medium"/>
                <a:sym typeface="Archivo Narrow Medium"/>
              </a:rPr>
              <a:t>Pursuit of Excellence</a:t>
            </a:r>
            <a:endParaRPr b="0" i="0" sz="1200" u="none" cap="none" strike="noStrike">
              <a:solidFill>
                <a:schemeClr val="lt1"/>
              </a:solidFill>
              <a:latin typeface="Archivo Narrow Medium"/>
              <a:ea typeface="Archivo Narrow Medium"/>
              <a:cs typeface="Archivo Narrow Medium"/>
              <a:sym typeface="Archivo Narrow Medium"/>
            </a:endParaRPr>
          </a:p>
        </p:txBody>
      </p:sp>
      <p:pic>
        <p:nvPicPr>
          <p:cNvPr id="28" name="Google Shape;28;g3f4c8d25141_0_11" title="CU logo GBT_25.png"/>
          <p:cNvPicPr preferRelativeResize="0"/>
          <p:nvPr/>
        </p:nvPicPr>
        <p:blipFill>
          <a:blip r:embed="rId2">
            <a:alphaModFix/>
          </a:blip>
          <a:stretch>
            <a:fillRect/>
          </a:stretch>
        </p:blipFill>
        <p:spPr>
          <a:xfrm>
            <a:off x="5965546" y="329612"/>
            <a:ext cx="2338945" cy="7926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g3f4c8d25141_0_25"/>
          <p:cNvSpPr txBox="1"/>
          <p:nvPr>
            <p:ph type="title"/>
          </p:nvPr>
        </p:nvSpPr>
        <p:spPr>
          <a:xfrm>
            <a:off x="311700" y="491767"/>
            <a:ext cx="85206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200"/>
              <a:buFont typeface="IBM Plex Sans Condensed"/>
              <a:buNone/>
              <a:defRPr>
                <a:latin typeface="IBM Plex Sans Condensed"/>
                <a:ea typeface="IBM Plex Sans Condensed"/>
                <a:cs typeface="IBM Plex Sans Condensed"/>
                <a:sym typeface="IBM Plex Sans Condensed"/>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1" name="Google Shape;31;g3f4c8d25141_0_25"/>
          <p:cNvSpPr txBox="1"/>
          <p:nvPr>
            <p:ph idx="1" type="body"/>
          </p:nvPr>
        </p:nvSpPr>
        <p:spPr>
          <a:xfrm>
            <a:off x="311700" y="1419388"/>
            <a:ext cx="8520600" cy="4672200"/>
          </a:xfrm>
          <a:prstGeom prst="rect">
            <a:avLst/>
          </a:prstGeom>
          <a:noFill/>
          <a:ln>
            <a:noFill/>
          </a:ln>
        </p:spPr>
        <p:txBody>
          <a:bodyPr anchorCtr="0" anchor="t" bIns="121900" lIns="121900" spcFirstLastPara="1" rIns="121900" wrap="square" tIns="121900">
            <a:noAutofit/>
          </a:bodyPr>
          <a:lstStyle>
            <a:lvl1pPr indent="-406400" lvl="0" marL="457200" algn="l">
              <a:lnSpc>
                <a:spcPct val="100000"/>
              </a:lnSpc>
              <a:spcBef>
                <a:spcPts val="0"/>
              </a:spcBef>
              <a:spcAft>
                <a:spcPts val="0"/>
              </a:spcAft>
              <a:buSzPts val="2800"/>
              <a:buFont typeface="IBM Plex Sans Condensed"/>
              <a:buChar char="●"/>
              <a:defRPr>
                <a:latin typeface="IBM Plex Sans Condensed"/>
                <a:ea typeface="IBM Plex Sans Condensed"/>
                <a:cs typeface="IBM Plex Sans Condensed"/>
                <a:sym typeface="IBM Plex Sans Condensed"/>
              </a:defRPr>
            </a:lvl1pPr>
            <a:lvl2pPr indent="-393700" lvl="1" marL="914400" algn="l">
              <a:lnSpc>
                <a:spcPct val="100000"/>
              </a:lnSpc>
              <a:spcBef>
                <a:spcPts val="800"/>
              </a:spcBef>
              <a:spcAft>
                <a:spcPts val="0"/>
              </a:spcAft>
              <a:buSzPts val="2600"/>
              <a:buFont typeface="IBM Plex Sans Condensed"/>
              <a:buChar char="○"/>
              <a:defRPr>
                <a:latin typeface="IBM Plex Sans Condensed"/>
                <a:ea typeface="IBM Plex Sans Condensed"/>
                <a:cs typeface="IBM Plex Sans Condensed"/>
                <a:sym typeface="IBM Plex Sans Condensed"/>
              </a:defRPr>
            </a:lvl2pPr>
            <a:lvl3pPr indent="-381000" lvl="2" marL="13716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3pPr>
            <a:lvl4pPr indent="-381000" lvl="3" marL="18288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4pPr>
            <a:lvl5pPr indent="-381000" lvl="4" marL="2286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5pPr>
            <a:lvl6pPr indent="-381000" lvl="5" marL="27432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6pPr>
            <a:lvl7pPr indent="-381000" lvl="6" marL="32004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7pPr>
            <a:lvl8pPr indent="-381000" lvl="7" marL="36576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8pPr>
            <a:lvl9pPr indent="-381000" lvl="8" marL="4114800" algn="l">
              <a:lnSpc>
                <a:spcPct val="100000"/>
              </a:lnSpc>
              <a:spcBef>
                <a:spcPts val="800"/>
              </a:spcBef>
              <a:spcAft>
                <a:spcPts val="800"/>
              </a:spcAft>
              <a:buSzPts val="2400"/>
              <a:buFont typeface="IBM Plex Sans Condensed"/>
              <a:buChar char="■"/>
              <a:defRPr>
                <a:latin typeface="IBM Plex Sans Condensed"/>
                <a:ea typeface="IBM Plex Sans Condensed"/>
                <a:cs typeface="IBM Plex Sans Condensed"/>
                <a:sym typeface="IBM Plex Sans Condensed"/>
              </a:defRPr>
            </a:lvl9pPr>
          </a:lstStyle>
          <a:p/>
        </p:txBody>
      </p:sp>
      <p:sp>
        <p:nvSpPr>
          <p:cNvPr id="32" name="Google Shape;32;g3f4c8d25141_0_25"/>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g3f4c8d25141_0_25"/>
          <p:cNvSpPr txBox="1"/>
          <p:nvPr/>
        </p:nvSpPr>
        <p:spPr>
          <a:xfrm>
            <a:off x="8688881" y="6515100"/>
            <a:ext cx="399600" cy="290100"/>
          </a:xfrm>
          <a:prstGeom prst="rect">
            <a:avLst/>
          </a:prstGeom>
          <a:no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g3f4c8d25141_0_30"/>
          <p:cNvSpPr txBox="1"/>
          <p:nvPr>
            <p:ph type="title"/>
          </p:nvPr>
        </p:nvSpPr>
        <p:spPr>
          <a:xfrm>
            <a:off x="311700" y="2867800"/>
            <a:ext cx="85206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6" name="Google Shape;36;g3f4c8d25141_0_30"/>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g3f4c8d25141_0_33"/>
          <p:cNvSpPr txBox="1"/>
          <p:nvPr>
            <p:ph type="title"/>
          </p:nvPr>
        </p:nvSpPr>
        <p:spPr>
          <a:xfrm>
            <a:off x="311700" y="517167"/>
            <a:ext cx="85206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9" name="Google Shape;39;g3f4c8d25141_0_33"/>
          <p:cNvSpPr txBox="1"/>
          <p:nvPr>
            <p:ph idx="1" type="body"/>
          </p:nvPr>
        </p:nvSpPr>
        <p:spPr>
          <a:xfrm>
            <a:off x="311700" y="1536625"/>
            <a:ext cx="3999900" cy="47517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800"/>
              </a:spcBef>
              <a:spcAft>
                <a:spcPts val="0"/>
              </a:spcAft>
              <a:buSzPts val="1600"/>
              <a:buChar char="○"/>
              <a:defRPr sz="1600"/>
            </a:lvl2pPr>
            <a:lvl3pPr indent="-330200" lvl="2" marL="1371600" algn="l">
              <a:lnSpc>
                <a:spcPct val="100000"/>
              </a:lnSpc>
              <a:spcBef>
                <a:spcPts val="800"/>
              </a:spcBef>
              <a:spcAft>
                <a:spcPts val="0"/>
              </a:spcAft>
              <a:buSzPts val="1600"/>
              <a:buChar char="■"/>
              <a:defRPr sz="1600"/>
            </a:lvl3pPr>
            <a:lvl4pPr indent="-330200" lvl="3" marL="1828800" algn="l">
              <a:lnSpc>
                <a:spcPct val="100000"/>
              </a:lnSpc>
              <a:spcBef>
                <a:spcPts val="800"/>
              </a:spcBef>
              <a:spcAft>
                <a:spcPts val="0"/>
              </a:spcAft>
              <a:buSzPts val="1600"/>
              <a:buChar char="●"/>
              <a:defRPr sz="1600"/>
            </a:lvl4pPr>
            <a:lvl5pPr indent="-330200" lvl="4" marL="2286000" algn="l">
              <a:lnSpc>
                <a:spcPct val="100000"/>
              </a:lnSpc>
              <a:spcBef>
                <a:spcPts val="800"/>
              </a:spcBef>
              <a:spcAft>
                <a:spcPts val="0"/>
              </a:spcAft>
              <a:buSzPts val="1600"/>
              <a:buChar char="○"/>
              <a:defRPr sz="1600"/>
            </a:lvl5pPr>
            <a:lvl6pPr indent="-330200" lvl="5" marL="2743200" algn="l">
              <a:lnSpc>
                <a:spcPct val="100000"/>
              </a:lnSpc>
              <a:spcBef>
                <a:spcPts val="800"/>
              </a:spcBef>
              <a:spcAft>
                <a:spcPts val="0"/>
              </a:spcAft>
              <a:buSzPts val="1600"/>
              <a:buChar char="■"/>
              <a:defRPr sz="1600"/>
            </a:lvl6pPr>
            <a:lvl7pPr indent="-330200" lvl="6" marL="3200400" algn="l">
              <a:lnSpc>
                <a:spcPct val="100000"/>
              </a:lnSpc>
              <a:spcBef>
                <a:spcPts val="800"/>
              </a:spcBef>
              <a:spcAft>
                <a:spcPts val="0"/>
              </a:spcAft>
              <a:buSzPts val="1600"/>
              <a:buChar char="●"/>
              <a:defRPr sz="1600"/>
            </a:lvl7pPr>
            <a:lvl8pPr indent="-330200" lvl="7" marL="3657600" algn="l">
              <a:lnSpc>
                <a:spcPct val="100000"/>
              </a:lnSpc>
              <a:spcBef>
                <a:spcPts val="800"/>
              </a:spcBef>
              <a:spcAft>
                <a:spcPts val="0"/>
              </a:spcAft>
              <a:buSzPts val="1600"/>
              <a:buChar char="○"/>
              <a:defRPr sz="1600"/>
            </a:lvl8pPr>
            <a:lvl9pPr indent="-330200" lvl="8" marL="4114800" algn="l">
              <a:lnSpc>
                <a:spcPct val="100000"/>
              </a:lnSpc>
              <a:spcBef>
                <a:spcPts val="800"/>
              </a:spcBef>
              <a:spcAft>
                <a:spcPts val="800"/>
              </a:spcAft>
              <a:buSzPts val="1600"/>
              <a:buChar char="■"/>
              <a:defRPr sz="1600"/>
            </a:lvl9pPr>
          </a:lstStyle>
          <a:p/>
        </p:txBody>
      </p:sp>
      <p:sp>
        <p:nvSpPr>
          <p:cNvPr id="40" name="Google Shape;40;g3f4c8d25141_0_33"/>
          <p:cNvSpPr txBox="1"/>
          <p:nvPr>
            <p:ph idx="2" type="body"/>
          </p:nvPr>
        </p:nvSpPr>
        <p:spPr>
          <a:xfrm>
            <a:off x="4832400" y="1536625"/>
            <a:ext cx="3999900" cy="4751700"/>
          </a:xfrm>
          <a:prstGeom prst="rect">
            <a:avLst/>
          </a:prstGeom>
          <a:noFill/>
          <a:ln>
            <a:noFill/>
          </a:ln>
        </p:spPr>
        <p:txBody>
          <a:bodyPr anchorCtr="0" anchor="t" bIns="121900" lIns="121900" spcFirstLastPara="1" rIns="121900" wrap="square" tIns="121900">
            <a:noAutofit/>
          </a:bodyPr>
          <a:lstStyle>
            <a:lvl1pPr indent="-349250" lvl="0" marL="457200" algn="l">
              <a:lnSpc>
                <a:spcPct val="100000"/>
              </a:lnSpc>
              <a:spcBef>
                <a:spcPts val="0"/>
              </a:spcBef>
              <a:spcAft>
                <a:spcPts val="0"/>
              </a:spcAft>
              <a:buSzPts val="1900"/>
              <a:buChar char="●"/>
              <a:defRPr sz="1900"/>
            </a:lvl1pPr>
            <a:lvl2pPr indent="-330200" lvl="1" marL="914400" algn="l">
              <a:lnSpc>
                <a:spcPct val="100000"/>
              </a:lnSpc>
              <a:spcBef>
                <a:spcPts val="800"/>
              </a:spcBef>
              <a:spcAft>
                <a:spcPts val="0"/>
              </a:spcAft>
              <a:buSzPts val="1600"/>
              <a:buChar char="○"/>
              <a:defRPr sz="1600"/>
            </a:lvl2pPr>
            <a:lvl3pPr indent="-330200" lvl="2" marL="1371600" algn="l">
              <a:lnSpc>
                <a:spcPct val="100000"/>
              </a:lnSpc>
              <a:spcBef>
                <a:spcPts val="800"/>
              </a:spcBef>
              <a:spcAft>
                <a:spcPts val="0"/>
              </a:spcAft>
              <a:buSzPts val="1600"/>
              <a:buChar char="■"/>
              <a:defRPr sz="1600"/>
            </a:lvl3pPr>
            <a:lvl4pPr indent="-330200" lvl="3" marL="1828800" algn="l">
              <a:lnSpc>
                <a:spcPct val="100000"/>
              </a:lnSpc>
              <a:spcBef>
                <a:spcPts val="800"/>
              </a:spcBef>
              <a:spcAft>
                <a:spcPts val="0"/>
              </a:spcAft>
              <a:buSzPts val="1600"/>
              <a:buChar char="●"/>
              <a:defRPr sz="1600"/>
            </a:lvl4pPr>
            <a:lvl5pPr indent="-330200" lvl="4" marL="2286000" algn="l">
              <a:lnSpc>
                <a:spcPct val="100000"/>
              </a:lnSpc>
              <a:spcBef>
                <a:spcPts val="800"/>
              </a:spcBef>
              <a:spcAft>
                <a:spcPts val="0"/>
              </a:spcAft>
              <a:buSzPts val="1600"/>
              <a:buChar char="○"/>
              <a:defRPr sz="1600"/>
            </a:lvl5pPr>
            <a:lvl6pPr indent="-330200" lvl="5" marL="2743200" algn="l">
              <a:lnSpc>
                <a:spcPct val="100000"/>
              </a:lnSpc>
              <a:spcBef>
                <a:spcPts val="800"/>
              </a:spcBef>
              <a:spcAft>
                <a:spcPts val="0"/>
              </a:spcAft>
              <a:buSzPts val="1600"/>
              <a:buChar char="■"/>
              <a:defRPr sz="1600"/>
            </a:lvl6pPr>
            <a:lvl7pPr indent="-330200" lvl="6" marL="3200400" algn="l">
              <a:lnSpc>
                <a:spcPct val="100000"/>
              </a:lnSpc>
              <a:spcBef>
                <a:spcPts val="800"/>
              </a:spcBef>
              <a:spcAft>
                <a:spcPts val="0"/>
              </a:spcAft>
              <a:buSzPts val="1600"/>
              <a:buChar char="●"/>
              <a:defRPr sz="1600"/>
            </a:lvl7pPr>
            <a:lvl8pPr indent="-330200" lvl="7" marL="3657600" algn="l">
              <a:lnSpc>
                <a:spcPct val="100000"/>
              </a:lnSpc>
              <a:spcBef>
                <a:spcPts val="800"/>
              </a:spcBef>
              <a:spcAft>
                <a:spcPts val="0"/>
              </a:spcAft>
              <a:buSzPts val="1600"/>
              <a:buChar char="○"/>
              <a:defRPr sz="1600"/>
            </a:lvl8pPr>
            <a:lvl9pPr indent="-330200" lvl="8" marL="4114800" algn="l">
              <a:lnSpc>
                <a:spcPct val="100000"/>
              </a:lnSpc>
              <a:spcBef>
                <a:spcPts val="800"/>
              </a:spcBef>
              <a:spcAft>
                <a:spcPts val="800"/>
              </a:spcAft>
              <a:buSzPts val="1600"/>
              <a:buChar char="■"/>
              <a:defRPr sz="1600"/>
            </a:lvl9pPr>
          </a:lstStyle>
          <a:p/>
        </p:txBody>
      </p:sp>
      <p:sp>
        <p:nvSpPr>
          <p:cNvPr id="41" name="Google Shape;41;g3f4c8d25141_0_33"/>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g3f4c8d25141_0_33"/>
          <p:cNvSpPr/>
          <p:nvPr/>
        </p:nvSpPr>
        <p:spPr>
          <a:xfrm rot="10800000">
            <a:off x="-2200" y="-25"/>
            <a:ext cx="9155100" cy="364800"/>
          </a:xfrm>
          <a:prstGeom prst="round2SameRect">
            <a:avLst>
              <a:gd fmla="val 12503" name="adj1"/>
              <a:gd fmla="val 0" name="adj2"/>
            </a:avLst>
          </a:prstGeom>
          <a:solidFill>
            <a:srgbClr val="0B5394"/>
          </a:solidFill>
          <a:ln cap="flat" cmpd="sng" w="19050">
            <a:solidFill>
              <a:srgbClr val="0B5394"/>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g3f4c8d25141_0_39"/>
          <p:cNvSpPr txBox="1"/>
          <p:nvPr>
            <p:ph type="title"/>
          </p:nvPr>
        </p:nvSpPr>
        <p:spPr>
          <a:xfrm>
            <a:off x="311700" y="517167"/>
            <a:ext cx="85206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45" name="Google Shape;45;g3f4c8d25141_0_39"/>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g3f4c8d25141_0_42"/>
          <p:cNvSpPr txBox="1"/>
          <p:nvPr>
            <p:ph type="title"/>
          </p:nvPr>
        </p:nvSpPr>
        <p:spPr>
          <a:xfrm>
            <a:off x="311700" y="740800"/>
            <a:ext cx="53088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48" name="Google Shape;48;g3f4c8d25141_0_42"/>
          <p:cNvSpPr txBox="1"/>
          <p:nvPr>
            <p:ph idx="1" type="body"/>
          </p:nvPr>
        </p:nvSpPr>
        <p:spPr>
          <a:xfrm>
            <a:off x="311700" y="1852800"/>
            <a:ext cx="2808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00000"/>
              </a:lnSpc>
              <a:spcBef>
                <a:spcPts val="0"/>
              </a:spcBef>
              <a:spcAft>
                <a:spcPts val="0"/>
              </a:spcAft>
              <a:buSzPts val="1600"/>
              <a:buChar char="●"/>
              <a:defRPr sz="1600"/>
            </a:lvl1pPr>
            <a:lvl2pPr indent="-330200" lvl="1" marL="914400" algn="l">
              <a:lnSpc>
                <a:spcPct val="100000"/>
              </a:lnSpc>
              <a:spcBef>
                <a:spcPts val="800"/>
              </a:spcBef>
              <a:spcAft>
                <a:spcPts val="0"/>
              </a:spcAft>
              <a:buSzPts val="1600"/>
              <a:buChar char="○"/>
              <a:defRPr sz="1600"/>
            </a:lvl2pPr>
            <a:lvl3pPr indent="-330200" lvl="2" marL="1371600" algn="l">
              <a:lnSpc>
                <a:spcPct val="100000"/>
              </a:lnSpc>
              <a:spcBef>
                <a:spcPts val="800"/>
              </a:spcBef>
              <a:spcAft>
                <a:spcPts val="0"/>
              </a:spcAft>
              <a:buSzPts val="1600"/>
              <a:buChar char="■"/>
              <a:defRPr sz="1600"/>
            </a:lvl3pPr>
            <a:lvl4pPr indent="-330200" lvl="3" marL="1828800" algn="l">
              <a:lnSpc>
                <a:spcPct val="100000"/>
              </a:lnSpc>
              <a:spcBef>
                <a:spcPts val="800"/>
              </a:spcBef>
              <a:spcAft>
                <a:spcPts val="0"/>
              </a:spcAft>
              <a:buSzPts val="1600"/>
              <a:buChar char="●"/>
              <a:defRPr sz="1600"/>
            </a:lvl4pPr>
            <a:lvl5pPr indent="-330200" lvl="4" marL="2286000" algn="l">
              <a:lnSpc>
                <a:spcPct val="100000"/>
              </a:lnSpc>
              <a:spcBef>
                <a:spcPts val="800"/>
              </a:spcBef>
              <a:spcAft>
                <a:spcPts val="0"/>
              </a:spcAft>
              <a:buSzPts val="1600"/>
              <a:buChar char="○"/>
              <a:defRPr sz="1600"/>
            </a:lvl5pPr>
            <a:lvl6pPr indent="-330200" lvl="5" marL="2743200" algn="l">
              <a:lnSpc>
                <a:spcPct val="100000"/>
              </a:lnSpc>
              <a:spcBef>
                <a:spcPts val="800"/>
              </a:spcBef>
              <a:spcAft>
                <a:spcPts val="0"/>
              </a:spcAft>
              <a:buSzPts val="1600"/>
              <a:buChar char="■"/>
              <a:defRPr sz="1600"/>
            </a:lvl6pPr>
            <a:lvl7pPr indent="-330200" lvl="6" marL="3200400" algn="l">
              <a:lnSpc>
                <a:spcPct val="100000"/>
              </a:lnSpc>
              <a:spcBef>
                <a:spcPts val="800"/>
              </a:spcBef>
              <a:spcAft>
                <a:spcPts val="0"/>
              </a:spcAft>
              <a:buSzPts val="1600"/>
              <a:buChar char="●"/>
              <a:defRPr sz="1600"/>
            </a:lvl7pPr>
            <a:lvl8pPr indent="-330200" lvl="7" marL="3657600" algn="l">
              <a:lnSpc>
                <a:spcPct val="100000"/>
              </a:lnSpc>
              <a:spcBef>
                <a:spcPts val="800"/>
              </a:spcBef>
              <a:spcAft>
                <a:spcPts val="0"/>
              </a:spcAft>
              <a:buSzPts val="1600"/>
              <a:buChar char="○"/>
              <a:defRPr sz="1600"/>
            </a:lvl8pPr>
            <a:lvl9pPr indent="-330200" lvl="8" marL="4114800" algn="l">
              <a:lnSpc>
                <a:spcPct val="100000"/>
              </a:lnSpc>
              <a:spcBef>
                <a:spcPts val="800"/>
              </a:spcBef>
              <a:spcAft>
                <a:spcPts val="800"/>
              </a:spcAft>
              <a:buSzPts val="1600"/>
              <a:buChar char="■"/>
              <a:defRPr sz="1600"/>
            </a:lvl9pPr>
          </a:lstStyle>
          <a:p/>
        </p:txBody>
      </p:sp>
      <p:sp>
        <p:nvSpPr>
          <p:cNvPr id="49" name="Google Shape;49;g3f4c8d25141_0_42"/>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0" name="Shape 50"/>
        <p:cNvGrpSpPr/>
        <p:nvPr/>
      </p:nvGrpSpPr>
      <p:grpSpPr>
        <a:xfrm>
          <a:off x="0" y="0"/>
          <a:ext cx="0" cy="0"/>
          <a:chOff x="0" y="0"/>
          <a:chExt cx="0" cy="0"/>
        </a:xfrm>
      </p:grpSpPr>
      <p:sp>
        <p:nvSpPr>
          <p:cNvPr id="51" name="Google Shape;51;g3f4c8d25141_0_46"/>
          <p:cNvSpPr txBox="1"/>
          <p:nvPr>
            <p:ph type="title"/>
          </p:nvPr>
        </p:nvSpPr>
        <p:spPr>
          <a:xfrm>
            <a:off x="490250" y="600200"/>
            <a:ext cx="63678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52" name="Google Shape;52;g3f4c8d25141_0_46"/>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3" name="Shape 53"/>
        <p:cNvGrpSpPr/>
        <p:nvPr/>
      </p:nvGrpSpPr>
      <p:grpSpPr>
        <a:xfrm>
          <a:off x="0" y="0"/>
          <a:ext cx="0" cy="0"/>
          <a:chOff x="0" y="0"/>
          <a:chExt cx="0" cy="0"/>
        </a:xfrm>
      </p:grpSpPr>
      <p:sp>
        <p:nvSpPr>
          <p:cNvPr id="54" name="Google Shape;54;g3f4c8d25141_0_49"/>
          <p:cNvSpPr/>
          <p:nvPr/>
        </p:nvSpPr>
        <p:spPr>
          <a:xfrm>
            <a:off x="4572000" y="272150"/>
            <a:ext cx="4572000" cy="6136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3f4c8d25141_0_49"/>
          <p:cNvSpPr txBox="1"/>
          <p:nvPr>
            <p:ph type="title"/>
          </p:nvPr>
        </p:nvSpPr>
        <p:spPr>
          <a:xfrm>
            <a:off x="265500" y="1644233"/>
            <a:ext cx="40452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56" name="Google Shape;56;g3f4c8d25141_0_49"/>
          <p:cNvSpPr txBox="1"/>
          <p:nvPr>
            <p:ph idx="1" type="subTitle"/>
          </p:nvPr>
        </p:nvSpPr>
        <p:spPr>
          <a:xfrm>
            <a:off x="265500" y="3737433"/>
            <a:ext cx="40452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g3f4c8d25141_0_49"/>
          <p:cNvSpPr txBox="1"/>
          <p:nvPr>
            <p:ph idx="2" type="body"/>
          </p:nvPr>
        </p:nvSpPr>
        <p:spPr>
          <a:xfrm>
            <a:off x="4939500" y="965433"/>
            <a:ext cx="3837000" cy="4926900"/>
          </a:xfrm>
          <a:prstGeom prst="rect">
            <a:avLst/>
          </a:prstGeom>
          <a:noFill/>
          <a:ln>
            <a:noFill/>
          </a:ln>
        </p:spPr>
        <p:txBody>
          <a:bodyPr anchorCtr="0" anchor="ctr" bIns="121900" lIns="121900" spcFirstLastPara="1" rIns="121900" wrap="square" tIns="121900">
            <a:noAutofit/>
          </a:bodyPr>
          <a:lstStyle>
            <a:lvl1pPr indent="-406400" lvl="0" marL="457200" algn="l">
              <a:lnSpc>
                <a:spcPct val="100000"/>
              </a:lnSpc>
              <a:spcBef>
                <a:spcPts val="0"/>
              </a:spcBef>
              <a:spcAft>
                <a:spcPts val="0"/>
              </a:spcAft>
              <a:buSzPts val="2800"/>
              <a:buChar char="●"/>
              <a:defRPr/>
            </a:lvl1pPr>
            <a:lvl2pPr indent="-393700" lvl="1" marL="914400" algn="l">
              <a:lnSpc>
                <a:spcPct val="100000"/>
              </a:lnSpc>
              <a:spcBef>
                <a:spcPts val="800"/>
              </a:spcBef>
              <a:spcAft>
                <a:spcPts val="0"/>
              </a:spcAft>
              <a:buSzPts val="2600"/>
              <a:buChar char="○"/>
              <a:defRPr/>
            </a:lvl2pPr>
            <a:lvl3pPr indent="-381000" lvl="2" marL="1371600" algn="l">
              <a:lnSpc>
                <a:spcPct val="100000"/>
              </a:lnSpc>
              <a:spcBef>
                <a:spcPts val="800"/>
              </a:spcBef>
              <a:spcAft>
                <a:spcPts val="0"/>
              </a:spcAft>
              <a:buSzPts val="2400"/>
              <a:buChar char="■"/>
              <a:defRPr/>
            </a:lvl3pPr>
            <a:lvl4pPr indent="-381000" lvl="3" marL="1828800" algn="l">
              <a:lnSpc>
                <a:spcPct val="100000"/>
              </a:lnSpc>
              <a:spcBef>
                <a:spcPts val="800"/>
              </a:spcBef>
              <a:spcAft>
                <a:spcPts val="0"/>
              </a:spcAft>
              <a:buSzPts val="2400"/>
              <a:buChar char="●"/>
              <a:defRPr/>
            </a:lvl4pPr>
            <a:lvl5pPr indent="-381000" lvl="4" marL="2286000" algn="l">
              <a:lnSpc>
                <a:spcPct val="100000"/>
              </a:lnSpc>
              <a:spcBef>
                <a:spcPts val="800"/>
              </a:spcBef>
              <a:spcAft>
                <a:spcPts val="0"/>
              </a:spcAft>
              <a:buSzPts val="2400"/>
              <a:buChar char="○"/>
              <a:defRPr/>
            </a:lvl5pPr>
            <a:lvl6pPr indent="-381000" lvl="5" marL="2743200" algn="l">
              <a:lnSpc>
                <a:spcPct val="100000"/>
              </a:lnSpc>
              <a:spcBef>
                <a:spcPts val="800"/>
              </a:spcBef>
              <a:spcAft>
                <a:spcPts val="0"/>
              </a:spcAft>
              <a:buSzPts val="2400"/>
              <a:buChar char="■"/>
              <a:defRPr/>
            </a:lvl6pPr>
            <a:lvl7pPr indent="-381000" lvl="6" marL="3200400" algn="l">
              <a:lnSpc>
                <a:spcPct val="100000"/>
              </a:lnSpc>
              <a:spcBef>
                <a:spcPts val="800"/>
              </a:spcBef>
              <a:spcAft>
                <a:spcPts val="0"/>
              </a:spcAft>
              <a:buSzPts val="2400"/>
              <a:buChar char="●"/>
              <a:defRPr/>
            </a:lvl7pPr>
            <a:lvl8pPr indent="-381000" lvl="7" marL="3657600" algn="l">
              <a:lnSpc>
                <a:spcPct val="100000"/>
              </a:lnSpc>
              <a:spcBef>
                <a:spcPts val="800"/>
              </a:spcBef>
              <a:spcAft>
                <a:spcPts val="0"/>
              </a:spcAft>
              <a:buSzPts val="2400"/>
              <a:buChar char="○"/>
              <a:defRPr/>
            </a:lvl8pPr>
            <a:lvl9pPr indent="-381000" lvl="8" marL="4114800" algn="l">
              <a:lnSpc>
                <a:spcPct val="100000"/>
              </a:lnSpc>
              <a:spcBef>
                <a:spcPts val="800"/>
              </a:spcBef>
              <a:spcAft>
                <a:spcPts val="800"/>
              </a:spcAft>
              <a:buSzPts val="2400"/>
              <a:buChar char="■"/>
              <a:defRPr/>
            </a:lvl9pPr>
          </a:lstStyle>
          <a:p/>
        </p:txBody>
      </p:sp>
      <p:sp>
        <p:nvSpPr>
          <p:cNvPr id="58" name="Google Shape;58;g3f4c8d25141_0_49"/>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9" name="Shape 59"/>
        <p:cNvGrpSpPr/>
        <p:nvPr/>
      </p:nvGrpSpPr>
      <p:grpSpPr>
        <a:xfrm>
          <a:off x="0" y="0"/>
          <a:ext cx="0" cy="0"/>
          <a:chOff x="0" y="0"/>
          <a:chExt cx="0" cy="0"/>
        </a:xfrm>
      </p:grpSpPr>
      <p:sp>
        <p:nvSpPr>
          <p:cNvPr id="60" name="Google Shape;60;g3f4c8d25141_0_55"/>
          <p:cNvSpPr txBox="1"/>
          <p:nvPr>
            <p:ph idx="1" type="body"/>
          </p:nvPr>
        </p:nvSpPr>
        <p:spPr>
          <a:xfrm>
            <a:off x="311700" y="5773325"/>
            <a:ext cx="5998800" cy="6351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800"/>
              <a:buNone/>
              <a:defRPr/>
            </a:lvl1pPr>
          </a:lstStyle>
          <a:p/>
        </p:txBody>
      </p:sp>
      <p:sp>
        <p:nvSpPr>
          <p:cNvPr id="61" name="Google Shape;61;g3f4c8d25141_0_55"/>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2" name="Shape 62"/>
        <p:cNvGrpSpPr/>
        <p:nvPr/>
      </p:nvGrpSpPr>
      <p:grpSpPr>
        <a:xfrm>
          <a:off x="0" y="0"/>
          <a:ext cx="0" cy="0"/>
          <a:chOff x="0" y="0"/>
          <a:chExt cx="0" cy="0"/>
        </a:xfrm>
      </p:grpSpPr>
      <p:sp>
        <p:nvSpPr>
          <p:cNvPr id="63" name="Google Shape;63;g3f4c8d25141_0_58"/>
          <p:cNvSpPr txBox="1"/>
          <p:nvPr>
            <p:ph hasCustomPrompt="1" type="title"/>
          </p:nvPr>
        </p:nvSpPr>
        <p:spPr>
          <a:xfrm>
            <a:off x="311700" y="1474833"/>
            <a:ext cx="85206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64" name="Google Shape;64;g3f4c8d25141_0_58"/>
          <p:cNvSpPr txBox="1"/>
          <p:nvPr>
            <p:ph idx="1" type="body"/>
          </p:nvPr>
        </p:nvSpPr>
        <p:spPr>
          <a:xfrm>
            <a:off x="311700" y="4202967"/>
            <a:ext cx="8520600" cy="1734300"/>
          </a:xfrm>
          <a:prstGeom prst="rect">
            <a:avLst/>
          </a:prstGeom>
          <a:noFill/>
          <a:ln>
            <a:noFill/>
          </a:ln>
        </p:spPr>
        <p:txBody>
          <a:bodyPr anchorCtr="0" anchor="t" bIns="121900" lIns="121900" spcFirstLastPara="1" rIns="121900" wrap="square" tIns="121900">
            <a:noAutofit/>
          </a:bodyPr>
          <a:lstStyle>
            <a:lvl1pPr indent="-406400" lvl="0" marL="457200" algn="ctr">
              <a:lnSpc>
                <a:spcPct val="100000"/>
              </a:lnSpc>
              <a:spcBef>
                <a:spcPts val="0"/>
              </a:spcBef>
              <a:spcAft>
                <a:spcPts val="0"/>
              </a:spcAft>
              <a:buSzPts val="2800"/>
              <a:buChar char="●"/>
              <a:defRPr/>
            </a:lvl1pPr>
            <a:lvl2pPr indent="-393700" lvl="1" marL="914400" algn="ctr">
              <a:lnSpc>
                <a:spcPct val="100000"/>
              </a:lnSpc>
              <a:spcBef>
                <a:spcPts val="800"/>
              </a:spcBef>
              <a:spcAft>
                <a:spcPts val="0"/>
              </a:spcAft>
              <a:buSzPts val="2600"/>
              <a:buChar char="○"/>
              <a:defRPr/>
            </a:lvl2pPr>
            <a:lvl3pPr indent="-381000" lvl="2" marL="1371600" algn="ctr">
              <a:lnSpc>
                <a:spcPct val="100000"/>
              </a:lnSpc>
              <a:spcBef>
                <a:spcPts val="800"/>
              </a:spcBef>
              <a:spcAft>
                <a:spcPts val="0"/>
              </a:spcAft>
              <a:buSzPts val="2400"/>
              <a:buChar char="■"/>
              <a:defRPr/>
            </a:lvl3pPr>
            <a:lvl4pPr indent="-381000" lvl="3" marL="1828800" algn="ctr">
              <a:lnSpc>
                <a:spcPct val="100000"/>
              </a:lnSpc>
              <a:spcBef>
                <a:spcPts val="800"/>
              </a:spcBef>
              <a:spcAft>
                <a:spcPts val="0"/>
              </a:spcAft>
              <a:buSzPts val="2400"/>
              <a:buChar char="●"/>
              <a:defRPr/>
            </a:lvl4pPr>
            <a:lvl5pPr indent="-381000" lvl="4" marL="2286000" algn="ctr">
              <a:lnSpc>
                <a:spcPct val="100000"/>
              </a:lnSpc>
              <a:spcBef>
                <a:spcPts val="800"/>
              </a:spcBef>
              <a:spcAft>
                <a:spcPts val="0"/>
              </a:spcAft>
              <a:buSzPts val="2400"/>
              <a:buChar char="○"/>
              <a:defRPr/>
            </a:lvl5pPr>
            <a:lvl6pPr indent="-381000" lvl="5" marL="2743200" algn="ctr">
              <a:lnSpc>
                <a:spcPct val="100000"/>
              </a:lnSpc>
              <a:spcBef>
                <a:spcPts val="800"/>
              </a:spcBef>
              <a:spcAft>
                <a:spcPts val="0"/>
              </a:spcAft>
              <a:buSzPts val="2400"/>
              <a:buChar char="■"/>
              <a:defRPr/>
            </a:lvl6pPr>
            <a:lvl7pPr indent="-381000" lvl="6" marL="3200400" algn="ctr">
              <a:lnSpc>
                <a:spcPct val="100000"/>
              </a:lnSpc>
              <a:spcBef>
                <a:spcPts val="800"/>
              </a:spcBef>
              <a:spcAft>
                <a:spcPts val="0"/>
              </a:spcAft>
              <a:buSzPts val="2400"/>
              <a:buChar char="●"/>
              <a:defRPr/>
            </a:lvl7pPr>
            <a:lvl8pPr indent="-381000" lvl="7" marL="3657600" algn="ctr">
              <a:lnSpc>
                <a:spcPct val="100000"/>
              </a:lnSpc>
              <a:spcBef>
                <a:spcPts val="800"/>
              </a:spcBef>
              <a:spcAft>
                <a:spcPts val="0"/>
              </a:spcAft>
              <a:buSzPts val="2400"/>
              <a:buChar char="○"/>
              <a:defRPr/>
            </a:lvl8pPr>
            <a:lvl9pPr indent="-381000" lvl="8" marL="4114800" algn="ctr">
              <a:lnSpc>
                <a:spcPct val="100000"/>
              </a:lnSpc>
              <a:spcBef>
                <a:spcPts val="800"/>
              </a:spcBef>
              <a:spcAft>
                <a:spcPts val="800"/>
              </a:spcAft>
              <a:buSzPts val="2400"/>
              <a:buChar char="■"/>
              <a:defRPr/>
            </a:lvl9pPr>
          </a:lstStyle>
          <a:p/>
        </p:txBody>
      </p:sp>
      <p:sp>
        <p:nvSpPr>
          <p:cNvPr id="65" name="Google Shape;65;g3f4c8d25141_0_58"/>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g3f4c8d25141_0_62"/>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g3f4c8d25141_0_64"/>
          <p:cNvSpPr txBox="1"/>
          <p:nvPr>
            <p:ph type="title"/>
          </p:nvPr>
        </p:nvSpPr>
        <p:spPr>
          <a:xfrm>
            <a:off x="518309" y="725951"/>
            <a:ext cx="7743900" cy="1442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3f4c8d25141_0_64"/>
          <p:cNvSpPr txBox="1"/>
          <p:nvPr>
            <p:ph idx="1" type="body"/>
          </p:nvPr>
        </p:nvSpPr>
        <p:spPr>
          <a:xfrm>
            <a:off x="518309" y="2340131"/>
            <a:ext cx="7743900" cy="3564300"/>
          </a:xfrm>
          <a:prstGeom prst="rect">
            <a:avLst/>
          </a:prstGeom>
          <a:noFill/>
          <a:ln>
            <a:noFill/>
          </a:ln>
        </p:spPr>
        <p:txBody>
          <a:bodyPr anchorCtr="0" anchor="t" bIns="45700" lIns="91425" spcFirstLastPara="1" rIns="91425" wrap="square" tIns="45700">
            <a:normAutofit/>
          </a:bodyPr>
          <a:lstStyle>
            <a:lvl1pPr indent="-314325" lvl="0" marL="457200" algn="l">
              <a:lnSpc>
                <a:spcPct val="110000"/>
              </a:lnSpc>
              <a:spcBef>
                <a:spcPts val="1000"/>
              </a:spcBef>
              <a:spcAft>
                <a:spcPts val="0"/>
              </a:spcAft>
              <a:buSzPts val="1350"/>
              <a:buChar char="▪"/>
              <a:defRPr/>
            </a:lvl1pPr>
            <a:lvl2pPr indent="-314325" lvl="1" marL="914400" algn="l">
              <a:lnSpc>
                <a:spcPct val="110000"/>
              </a:lnSpc>
              <a:spcBef>
                <a:spcPts val="500"/>
              </a:spcBef>
              <a:spcAft>
                <a:spcPts val="0"/>
              </a:spcAft>
              <a:buSzPts val="1350"/>
              <a:buChar char="▪"/>
              <a:defRPr/>
            </a:lvl2pPr>
            <a:lvl3pPr indent="-314325" lvl="2" marL="1371600" algn="l">
              <a:lnSpc>
                <a:spcPct val="110000"/>
              </a:lnSpc>
              <a:spcBef>
                <a:spcPts val="500"/>
              </a:spcBef>
              <a:spcAft>
                <a:spcPts val="0"/>
              </a:spcAft>
              <a:buSzPts val="1350"/>
              <a:buChar char="▪"/>
              <a:defRPr/>
            </a:lvl3pPr>
            <a:lvl4pPr indent="-314325" lvl="3" marL="1828800" algn="l">
              <a:lnSpc>
                <a:spcPct val="110000"/>
              </a:lnSpc>
              <a:spcBef>
                <a:spcPts val="500"/>
              </a:spcBef>
              <a:spcAft>
                <a:spcPts val="0"/>
              </a:spcAft>
              <a:buSzPts val="1350"/>
              <a:buChar char="▪"/>
              <a:defRPr/>
            </a:lvl4pPr>
            <a:lvl5pPr indent="-314325" lvl="4" marL="2286000" algn="l">
              <a:lnSpc>
                <a:spcPct val="110000"/>
              </a:lnSpc>
              <a:spcBef>
                <a:spcPts val="5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g3f4c8d25141_0_64"/>
          <p:cNvSpPr txBox="1"/>
          <p:nvPr>
            <p:ph idx="12" type="sldNum"/>
          </p:nvPr>
        </p:nvSpPr>
        <p:spPr>
          <a:xfrm>
            <a:off x="8252737" y="6215870"/>
            <a:ext cx="734400" cy="4170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 and body (g3f36a93f0b3_9_0)">
    <p:spTree>
      <p:nvGrpSpPr>
        <p:cNvPr id="72" name="Shape 72"/>
        <p:cNvGrpSpPr/>
        <p:nvPr/>
      </p:nvGrpSpPr>
      <p:grpSpPr>
        <a:xfrm>
          <a:off x="0" y="0"/>
          <a:ext cx="0" cy="0"/>
          <a:chOff x="0" y="0"/>
          <a:chExt cx="0" cy="0"/>
        </a:xfrm>
      </p:grpSpPr>
      <p:sp>
        <p:nvSpPr>
          <p:cNvPr id="73" name="Google Shape;73;g3f52423cb84_0_206"/>
          <p:cNvSpPr txBox="1"/>
          <p:nvPr>
            <p:ph type="title"/>
          </p:nvPr>
        </p:nvSpPr>
        <p:spPr>
          <a:xfrm>
            <a:off x="311700" y="491767"/>
            <a:ext cx="85206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200"/>
              <a:buFont typeface="IBM Plex Sans Condensed"/>
              <a:buNone/>
              <a:defRPr>
                <a:latin typeface="IBM Plex Sans Condensed"/>
                <a:ea typeface="IBM Plex Sans Condensed"/>
                <a:cs typeface="IBM Plex Sans Condensed"/>
                <a:sym typeface="IBM Plex Sans Condensed"/>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74" name="Google Shape;74;g3f52423cb84_0_206"/>
          <p:cNvSpPr txBox="1"/>
          <p:nvPr>
            <p:ph idx="1" type="body"/>
          </p:nvPr>
        </p:nvSpPr>
        <p:spPr>
          <a:xfrm>
            <a:off x="311700" y="1419388"/>
            <a:ext cx="8520600" cy="4672200"/>
          </a:xfrm>
          <a:prstGeom prst="rect">
            <a:avLst/>
          </a:prstGeom>
          <a:noFill/>
          <a:ln>
            <a:noFill/>
          </a:ln>
        </p:spPr>
        <p:txBody>
          <a:bodyPr anchorCtr="0" anchor="t" bIns="121900" lIns="121900" spcFirstLastPara="1" rIns="121900" wrap="square" tIns="121900">
            <a:noAutofit/>
          </a:bodyPr>
          <a:lstStyle>
            <a:lvl1pPr indent="-406400" lvl="0" marL="457200" algn="l">
              <a:lnSpc>
                <a:spcPct val="100000"/>
              </a:lnSpc>
              <a:spcBef>
                <a:spcPts val="0"/>
              </a:spcBef>
              <a:spcAft>
                <a:spcPts val="0"/>
              </a:spcAft>
              <a:buSzPts val="2800"/>
              <a:buFont typeface="IBM Plex Sans Condensed"/>
              <a:buChar char="●"/>
              <a:defRPr>
                <a:latin typeface="IBM Plex Sans Condensed"/>
                <a:ea typeface="IBM Plex Sans Condensed"/>
                <a:cs typeface="IBM Plex Sans Condensed"/>
                <a:sym typeface="IBM Plex Sans Condensed"/>
              </a:defRPr>
            </a:lvl1pPr>
            <a:lvl2pPr indent="-393700" lvl="1" marL="914400" algn="l">
              <a:lnSpc>
                <a:spcPct val="100000"/>
              </a:lnSpc>
              <a:spcBef>
                <a:spcPts val="800"/>
              </a:spcBef>
              <a:spcAft>
                <a:spcPts val="0"/>
              </a:spcAft>
              <a:buSzPts val="2600"/>
              <a:buFont typeface="IBM Plex Sans Condensed"/>
              <a:buChar char="○"/>
              <a:defRPr>
                <a:latin typeface="IBM Plex Sans Condensed"/>
                <a:ea typeface="IBM Plex Sans Condensed"/>
                <a:cs typeface="IBM Plex Sans Condensed"/>
                <a:sym typeface="IBM Plex Sans Condensed"/>
              </a:defRPr>
            </a:lvl2pPr>
            <a:lvl3pPr indent="-381000" lvl="2" marL="13716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3pPr>
            <a:lvl4pPr indent="-381000" lvl="3" marL="18288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4pPr>
            <a:lvl5pPr indent="-381000" lvl="4" marL="2286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5pPr>
            <a:lvl6pPr indent="-381000" lvl="5" marL="27432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6pPr>
            <a:lvl7pPr indent="-381000" lvl="6" marL="32004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7pPr>
            <a:lvl8pPr indent="-381000" lvl="7" marL="36576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8pPr>
            <a:lvl9pPr indent="-381000" lvl="8" marL="4114800" algn="l">
              <a:lnSpc>
                <a:spcPct val="100000"/>
              </a:lnSpc>
              <a:spcBef>
                <a:spcPts val="800"/>
              </a:spcBef>
              <a:spcAft>
                <a:spcPts val="800"/>
              </a:spcAft>
              <a:buSzPts val="2400"/>
              <a:buFont typeface="IBM Plex Sans Condensed"/>
              <a:buChar char="■"/>
              <a:defRPr>
                <a:latin typeface="IBM Plex Sans Condensed"/>
                <a:ea typeface="IBM Plex Sans Condensed"/>
                <a:cs typeface="IBM Plex Sans Condensed"/>
                <a:sym typeface="IBM Plex Sans Condensed"/>
              </a:defRPr>
            </a:lvl9pPr>
          </a:lstStyle>
          <a:p/>
        </p:txBody>
      </p:sp>
      <p:sp>
        <p:nvSpPr>
          <p:cNvPr id="75" name="Google Shape;75;g3f52423cb84_0_206"/>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f4c8d25141_0_1"/>
          <p:cNvSpPr txBox="1"/>
          <p:nvPr>
            <p:ph type="title"/>
          </p:nvPr>
        </p:nvSpPr>
        <p:spPr>
          <a:xfrm>
            <a:off x="311700" y="517167"/>
            <a:ext cx="85206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1pPr>
            <a:lvl2pPr lvl="1"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2pPr>
            <a:lvl3pPr lvl="2"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3pPr>
            <a:lvl4pPr lvl="3"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4pPr>
            <a:lvl5pPr lvl="4"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5pPr>
            <a:lvl6pPr lvl="5"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6pPr>
            <a:lvl7pPr lvl="6"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7pPr>
            <a:lvl8pPr lvl="7"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8pPr>
            <a:lvl9pPr lvl="8" marR="0" rtl="0" algn="l">
              <a:lnSpc>
                <a:spcPct val="100000"/>
              </a:lnSpc>
              <a:spcBef>
                <a:spcPts val="0"/>
              </a:spcBef>
              <a:spcAft>
                <a:spcPts val="0"/>
              </a:spcAft>
              <a:buClr>
                <a:srgbClr val="000000"/>
              </a:buClr>
              <a:buSzPts val="3200"/>
              <a:buFont typeface="IBM Plex Sans Condensed"/>
              <a:buNone/>
              <a:defRPr b="1" i="0" sz="3200" u="none" cap="none" strike="noStrike">
                <a:solidFill>
                  <a:srgbClr val="000000"/>
                </a:solidFill>
                <a:latin typeface="IBM Plex Sans Condensed"/>
                <a:ea typeface="IBM Plex Sans Condensed"/>
                <a:cs typeface="IBM Plex Sans Condensed"/>
                <a:sym typeface="IBM Plex Sans Condensed"/>
              </a:defRPr>
            </a:lvl9pPr>
          </a:lstStyle>
          <a:p/>
        </p:txBody>
      </p:sp>
      <p:sp>
        <p:nvSpPr>
          <p:cNvPr id="7" name="Google Shape;7;g3f4c8d25141_0_1"/>
          <p:cNvSpPr txBox="1"/>
          <p:nvPr>
            <p:ph idx="1" type="body"/>
          </p:nvPr>
        </p:nvSpPr>
        <p:spPr>
          <a:xfrm>
            <a:off x="311700" y="1356875"/>
            <a:ext cx="8520600" cy="4748400"/>
          </a:xfrm>
          <a:prstGeom prst="rect">
            <a:avLst/>
          </a:prstGeom>
          <a:noFill/>
          <a:ln>
            <a:noFill/>
          </a:ln>
        </p:spPr>
        <p:txBody>
          <a:bodyPr anchorCtr="0" anchor="t" bIns="121900" lIns="121900" spcFirstLastPara="1" rIns="121900" wrap="square" tIns="121900">
            <a:noAutofit/>
          </a:bodyPr>
          <a:lstStyle>
            <a:lvl1pPr indent="-406400" lvl="0" marL="457200" marR="0" rtl="0" algn="l">
              <a:lnSpc>
                <a:spcPct val="100000"/>
              </a:lnSpc>
              <a:spcBef>
                <a:spcPts val="0"/>
              </a:spcBef>
              <a:spcAft>
                <a:spcPts val="0"/>
              </a:spcAft>
              <a:buClr>
                <a:srgbClr val="000000"/>
              </a:buClr>
              <a:buSzPts val="2800"/>
              <a:buFont typeface="IBM Plex Sans Condensed"/>
              <a:buChar char="●"/>
              <a:defRPr b="0" i="0" sz="2800" u="none" cap="none" strike="noStrike">
                <a:solidFill>
                  <a:srgbClr val="000000"/>
                </a:solidFill>
                <a:latin typeface="IBM Plex Sans Condensed"/>
                <a:ea typeface="IBM Plex Sans Condensed"/>
                <a:cs typeface="IBM Plex Sans Condensed"/>
                <a:sym typeface="IBM Plex Sans Condensed"/>
              </a:defRPr>
            </a:lvl1pPr>
            <a:lvl2pPr indent="-393700" lvl="1" marL="914400" marR="0" rtl="0" algn="l">
              <a:lnSpc>
                <a:spcPct val="100000"/>
              </a:lnSpc>
              <a:spcBef>
                <a:spcPts val="800"/>
              </a:spcBef>
              <a:spcAft>
                <a:spcPts val="0"/>
              </a:spcAft>
              <a:buClr>
                <a:srgbClr val="000000"/>
              </a:buClr>
              <a:buSzPts val="2600"/>
              <a:buFont typeface="IBM Plex Sans Condensed"/>
              <a:buChar char="○"/>
              <a:defRPr b="0" i="0" sz="2600" u="none" cap="none" strike="noStrike">
                <a:solidFill>
                  <a:srgbClr val="000000"/>
                </a:solidFill>
                <a:latin typeface="IBM Plex Sans Condensed"/>
                <a:ea typeface="IBM Plex Sans Condensed"/>
                <a:cs typeface="IBM Plex Sans Condensed"/>
                <a:sym typeface="IBM Plex Sans Condensed"/>
              </a:defRPr>
            </a:lvl2pPr>
            <a:lvl3pPr indent="-381000" lvl="2" marL="13716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3pPr>
            <a:lvl4pPr indent="-381000" lvl="3" marL="18288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4pPr>
            <a:lvl5pPr indent="-381000" lvl="4" marL="22860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5pPr>
            <a:lvl6pPr indent="-381000" lvl="5" marL="27432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6pPr>
            <a:lvl7pPr indent="-381000" lvl="6" marL="32004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7pPr>
            <a:lvl8pPr indent="-381000" lvl="7" marL="3657600" marR="0" rtl="0" algn="l">
              <a:lnSpc>
                <a:spcPct val="100000"/>
              </a:lnSpc>
              <a:spcBef>
                <a:spcPts val="800"/>
              </a:spcBef>
              <a:spcAft>
                <a:spcPts val="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8pPr>
            <a:lvl9pPr indent="-381000" lvl="8" marL="4114800" marR="0" rtl="0" algn="l">
              <a:lnSpc>
                <a:spcPct val="100000"/>
              </a:lnSpc>
              <a:spcBef>
                <a:spcPts val="800"/>
              </a:spcBef>
              <a:spcAft>
                <a:spcPts val="800"/>
              </a:spcAft>
              <a:buClr>
                <a:srgbClr val="000000"/>
              </a:buClr>
              <a:buSzPts val="2400"/>
              <a:buFont typeface="Archivo Narrow"/>
              <a:buChar char="■"/>
              <a:defRPr b="0" i="0" sz="2400" u="none" cap="none" strike="noStrike">
                <a:solidFill>
                  <a:srgbClr val="000000"/>
                </a:solidFill>
                <a:latin typeface="Archivo Narrow"/>
                <a:ea typeface="Archivo Narrow"/>
                <a:cs typeface="Archivo Narrow"/>
                <a:sym typeface="Archivo Narrow"/>
              </a:defRPr>
            </a:lvl9pPr>
          </a:lstStyle>
          <a:p/>
        </p:txBody>
      </p:sp>
      <p:sp>
        <p:nvSpPr>
          <p:cNvPr id="8" name="Google Shape;8;g3f4c8d25141_0_1"/>
          <p:cNvSpPr/>
          <p:nvPr/>
        </p:nvSpPr>
        <p:spPr>
          <a:xfrm>
            <a:off x="0" y="-9719"/>
            <a:ext cx="9144000" cy="261900"/>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9" name="Google Shape;9;g3f4c8d25141_0_1"/>
          <p:cNvSpPr/>
          <p:nvPr/>
        </p:nvSpPr>
        <p:spPr>
          <a:xfrm>
            <a:off x="0" y="6615550"/>
            <a:ext cx="9144000" cy="261900"/>
          </a:xfrm>
          <a:prstGeom prst="rect">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10" name="Google Shape;10;g3f4c8d25141_0_1"/>
          <p:cNvSpPr/>
          <p:nvPr/>
        </p:nvSpPr>
        <p:spPr>
          <a:xfrm>
            <a:off x="-37" y="6387300"/>
            <a:ext cx="9144000" cy="353400"/>
          </a:xfrm>
          <a:prstGeom prst="roundRect">
            <a:avLst>
              <a:gd fmla="val 16667" name="adj"/>
            </a:avLst>
          </a:prstGeom>
          <a:solidFill>
            <a:srgbClr val="0C5394"/>
          </a:solidFill>
          <a:ln cap="flat" cmpd="sng" w="9525">
            <a:solidFill>
              <a:srgbClr val="0C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BM Plex Sans Condensed"/>
              <a:ea typeface="IBM Plex Sans Condensed"/>
              <a:cs typeface="IBM Plex Sans Condensed"/>
              <a:sym typeface="IBM Plex Sans Condensed"/>
            </a:endParaRPr>
          </a:p>
        </p:txBody>
      </p:sp>
      <p:sp>
        <p:nvSpPr>
          <p:cNvPr id="11" name="Google Shape;11;g3f4c8d25141_0_1"/>
          <p:cNvSpPr txBox="1"/>
          <p:nvPr/>
        </p:nvSpPr>
        <p:spPr>
          <a:xfrm rot="-614006">
            <a:off x="6626782" y="6371499"/>
            <a:ext cx="1377920" cy="67938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D2AE6C"/>
                </a:solidFill>
                <a:latin typeface="Yellowtail"/>
                <a:ea typeface="Yellowtail"/>
                <a:cs typeface="Yellowtail"/>
                <a:sym typeface="Yellowtail"/>
              </a:rPr>
              <a:t>Excellence &amp; Service</a:t>
            </a:r>
            <a:endParaRPr b="0" i="0" sz="1600" u="none" cap="none" strike="noStrike">
              <a:solidFill>
                <a:srgbClr val="D2AE6C"/>
              </a:solidFill>
              <a:latin typeface="Yellowtail"/>
              <a:ea typeface="Yellowtail"/>
              <a:cs typeface="Yellowtail"/>
              <a:sym typeface="Yellowtail"/>
            </a:endParaRPr>
          </a:p>
        </p:txBody>
      </p:sp>
      <p:sp>
        <p:nvSpPr>
          <p:cNvPr id="12" name="Google Shape;12;g3f4c8d25141_0_1"/>
          <p:cNvSpPr txBox="1"/>
          <p:nvPr/>
        </p:nvSpPr>
        <p:spPr>
          <a:xfrm rot="1893">
            <a:off x="4550706" y="6448425"/>
            <a:ext cx="2179800" cy="6156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CCCCCC"/>
                </a:solidFill>
                <a:latin typeface="Archivo Narrow"/>
                <a:ea typeface="Archivo Narrow"/>
                <a:cs typeface="Archivo Narrow"/>
                <a:sym typeface="Archivo Narrow"/>
              </a:rPr>
              <a:t>CHRIST (Deemed to be University)</a:t>
            </a:r>
            <a:endParaRPr b="0" i="0" sz="1400" u="none" cap="none" strike="noStrike">
              <a:solidFill>
                <a:srgbClr val="CCCCCC"/>
              </a:solidFill>
              <a:latin typeface="Archivo Narrow"/>
              <a:ea typeface="Archivo Narrow"/>
              <a:cs typeface="Archivo Narrow"/>
              <a:sym typeface="Archivo Narrow"/>
            </a:endParaRPr>
          </a:p>
        </p:txBody>
      </p:sp>
      <p:sp>
        <p:nvSpPr>
          <p:cNvPr id="13" name="Google Shape;13;g3f4c8d25141_0_1"/>
          <p:cNvSpPr txBox="1"/>
          <p:nvPr>
            <p:ph idx="12" type="sldNum"/>
          </p:nvPr>
        </p:nvSpPr>
        <p:spPr>
          <a:xfrm>
            <a:off x="8415300" y="6408364"/>
            <a:ext cx="548700" cy="4014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4" name="Google Shape;14;g3f4c8d25141_0_1" title="CU logo crest Gold.png"/>
          <p:cNvPicPr preferRelativeResize="0"/>
          <p:nvPr/>
        </p:nvPicPr>
        <p:blipFill>
          <a:blip r:embed="rId1">
            <a:alphaModFix amt="3000"/>
          </a:blip>
          <a:stretch>
            <a:fillRect/>
          </a:stretch>
        </p:blipFill>
        <p:spPr>
          <a:xfrm>
            <a:off x="6105188" y="2136400"/>
            <a:ext cx="2988495" cy="297665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medium.com/@gayatrinikam5103/convex-vs-non-convex-functions-in-ml-navigating-the-peaks-and-valleys-011e25409c6e" TargetMode="External"/><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4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34.png"/><Relationship Id="rId5" Type="http://schemas.openxmlformats.org/officeDocument/2006/relationships/hyperlink" Target="https://www.kaggle.com/code/abdalimran/intuition-of-gradient-descent-for-machine-learn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s://developers.google.com/machine-learning/crash-course/linear-regression/gradient-descent" TargetMode="Externa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www.khanacademy.org/a/maximums-minimums-and-saddle-points" TargetMode="External"/><Relationship Id="rId4" Type="http://schemas.openxmlformats.org/officeDocument/2006/relationships/image" Target="../media/image19.png"/><Relationship Id="rId5" Type="http://schemas.openxmlformats.org/officeDocument/2006/relationships/image" Target="../media/image16.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8.png"/><Relationship Id="rId9" Type="http://schemas.openxmlformats.org/officeDocument/2006/relationships/image" Target="../media/image35.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29.png"/><Relationship Id="rId8"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30.png"/><Relationship Id="rId5"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6.png"/><Relationship Id="rId4" Type="http://schemas.openxmlformats.org/officeDocument/2006/relationships/image" Target="../media/image48.png"/><Relationship Id="rId5"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45.png"/><Relationship Id="rId5"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41.png"/><Relationship Id="rId6"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43.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hyperlink" Target="https://developers.google.com/machine-learning/glossary#hyperparameter" TargetMode="External"/><Relationship Id="rId4" Type="http://schemas.openxmlformats.org/officeDocument/2006/relationships/hyperlink" Target="https://developers.google.com/machine-learning/glossary#learning-rate" TargetMode="External"/><Relationship Id="rId5" Type="http://schemas.openxmlformats.org/officeDocument/2006/relationships/hyperlink" Target="https://developers.google.com/machine-learning/glossary#batch-size" TargetMode="External"/><Relationship Id="rId6" Type="http://schemas.openxmlformats.org/officeDocument/2006/relationships/hyperlink" Target="https://developers.google.com/machine-learning/glossary#epoch" TargetMode="External"/><Relationship Id="rId7" Type="http://schemas.openxmlformats.org/officeDocument/2006/relationships/hyperlink" Target="https://developers.google.com/machine-learning/glossary#parameter" TargetMode="External"/><Relationship Id="rId8"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hyperlink" Target="https://developers.google.com/machine-learning/glossary#batch-size" TargetMode="External"/><Relationship Id="rId4" Type="http://schemas.openxmlformats.org/officeDocument/2006/relationships/hyperlink" Target="https://developers.google.com/machine-learning/glossary#example" TargetMode="External"/><Relationship Id="rId5" Type="http://schemas.openxmlformats.org/officeDocument/2006/relationships/hyperlink" Target="https://developers.google.com/machine-learning/glossary#SGD" TargetMode="External"/><Relationship Id="rId6" Type="http://schemas.openxmlformats.org/officeDocument/2006/relationships/hyperlink" Target="https://developers.google.com/machine-learning/glossary#mini-batch-stochastic-gradient-descen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hyperlink" Target="https://developers.google.com/machine-learning/glossary#epoch" TargetMode="External"/><Relationship Id="rId4" Type="http://schemas.openxmlformats.org/officeDocument/2006/relationships/hyperlink" Target="https://developers.google.com/machine-learning/glossary#iteration" TargetMode="External"/><Relationship Id="rId5"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52.png"/><Relationship Id="rId4" Type="http://schemas.openxmlformats.org/officeDocument/2006/relationships/image" Target="../media/image51.png"/><Relationship Id="rId5" Type="http://schemas.openxmlformats.org/officeDocument/2006/relationships/hyperlink" Target="https://developers.google.com/machine-learning/glossary#loss" TargetMode="External"/><Relationship Id="rId6" Type="http://schemas.openxmlformats.org/officeDocument/2006/relationships/hyperlink" Target="https://developers.google.com/machine-learning/glossary#iteration" TargetMode="External"/><Relationship Id="rId7" Type="http://schemas.openxmlformats.org/officeDocument/2006/relationships/hyperlink" Target="https://developers.google.com/machine-learning/glossary#loss_curve" TargetMode="External"/><Relationship Id="rId8"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hyperlink" Target="https://colab.research.google.com/drive/1al3JRKx_Z0HHJNk_i4IQdJ-LSo0lfLl2#scrollTo=bc7650e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 name="Shape 79"/>
        <p:cNvGrpSpPr/>
        <p:nvPr/>
      </p:nvGrpSpPr>
      <p:grpSpPr>
        <a:xfrm>
          <a:off x="0" y="0"/>
          <a:ext cx="0" cy="0"/>
          <a:chOff x="0" y="0"/>
          <a:chExt cx="0" cy="0"/>
        </a:xfrm>
      </p:grpSpPr>
      <p:sp>
        <p:nvSpPr>
          <p:cNvPr id="80" name="Google Shape;80;g3f4c8d25141_0_68"/>
          <p:cNvSpPr txBox="1"/>
          <p:nvPr/>
        </p:nvSpPr>
        <p:spPr>
          <a:xfrm>
            <a:off x="463163" y="2313225"/>
            <a:ext cx="3878100" cy="12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latin typeface="IBM Plex Sans Condensed"/>
              <a:ea typeface="IBM Plex Sans Condensed"/>
              <a:cs typeface="IBM Plex Sans Condensed"/>
              <a:sym typeface="IBM Plex Sans Condensed"/>
            </a:endParaRPr>
          </a:p>
        </p:txBody>
      </p:sp>
      <p:sp>
        <p:nvSpPr>
          <p:cNvPr id="81" name="Google Shape;81;g3f4c8d25141_0_68"/>
          <p:cNvSpPr txBox="1"/>
          <p:nvPr>
            <p:ph type="ctrTitle"/>
          </p:nvPr>
        </p:nvSpPr>
        <p:spPr>
          <a:xfrm>
            <a:off x="0" y="2131150"/>
            <a:ext cx="8520600" cy="3089100"/>
          </a:xfrm>
          <a:prstGeom prst="rect">
            <a:avLst/>
          </a:prstGeom>
        </p:spPr>
        <p:txBody>
          <a:bodyPr anchorCtr="0" anchor="b" bIns="121900" lIns="121900" spcFirstLastPara="1" rIns="121900" wrap="square" tIns="121900">
            <a:noAutofit/>
          </a:bodyPr>
          <a:lstStyle/>
          <a:p>
            <a:pPr indent="0" lvl="0" marL="0" rtl="0" algn="ctr">
              <a:lnSpc>
                <a:spcPct val="115000"/>
              </a:lnSpc>
              <a:spcBef>
                <a:spcPts val="0"/>
              </a:spcBef>
              <a:spcAft>
                <a:spcPts val="0"/>
              </a:spcAft>
              <a:buNone/>
            </a:pPr>
            <a:r>
              <a:rPr lang="en-US" sz="3800" u="sng">
                <a:solidFill>
                  <a:schemeClr val="dk1"/>
                </a:solidFill>
                <a:latin typeface="Times New Roman"/>
                <a:ea typeface="Times New Roman"/>
                <a:cs typeface="Times New Roman"/>
                <a:sym typeface="Times New Roman"/>
              </a:rPr>
              <a:t>Unit-3: </a:t>
            </a:r>
            <a:endParaRPr sz="3800" u="sng">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None/>
            </a:pPr>
            <a:r>
              <a:rPr lang="en-US" sz="3800" u="sng">
                <a:solidFill>
                  <a:schemeClr val="dk1"/>
                </a:solidFill>
                <a:latin typeface="Times New Roman"/>
                <a:ea typeface="Times New Roman"/>
                <a:cs typeface="Times New Roman"/>
                <a:sym typeface="Times New Roman"/>
              </a:rPr>
              <a:t>SUPERVISED LEARNING </a:t>
            </a:r>
            <a:endParaRPr sz="3800" u="sng">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US" sz="3800" u="sng">
                <a:solidFill>
                  <a:schemeClr val="dk1"/>
                </a:solidFill>
                <a:latin typeface="Times New Roman"/>
                <a:ea typeface="Times New Roman"/>
                <a:cs typeface="Times New Roman"/>
                <a:sym typeface="Times New Roman"/>
              </a:rPr>
              <a:t>ALGORITHMS    </a:t>
            </a:r>
            <a:endParaRPr sz="38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f4c8d25141_0_74"/>
          <p:cNvSpPr txBox="1"/>
          <p:nvPr>
            <p:ph idx="1" type="body"/>
          </p:nvPr>
        </p:nvSpPr>
        <p:spPr>
          <a:xfrm>
            <a:off x="274875" y="329575"/>
            <a:ext cx="8520600" cy="5513400"/>
          </a:xfrm>
          <a:prstGeom prst="rect">
            <a:avLst/>
          </a:prstGeom>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100"/>
              <a:buFont typeface="Arial"/>
              <a:buNone/>
            </a:pPr>
            <a:r>
              <a:rPr b="1" lang="en-US" sz="2400" u="sng">
                <a:solidFill>
                  <a:schemeClr val="dk1"/>
                </a:solidFill>
                <a:latin typeface="Times New Roman"/>
                <a:ea typeface="Times New Roman"/>
                <a:cs typeface="Times New Roman"/>
                <a:sym typeface="Times New Roman"/>
              </a:rPr>
              <a:t>Unit-3: SUPERVISED LEARNING ALGORITHMS         Teaching Hours: 15 Hours</a:t>
            </a:r>
            <a:endParaRPr b="1" sz="2400" u="sng">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Learning through Optimisation: Gradient Descent, Linear Regression, Logistic Regression,</a:t>
            </a:r>
            <a:endParaRPr sz="24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 Computational Learning: Decision Trees, Naive-Bayes classification, Support Vector Machines, Ensemble Learners: Learning, Voting, Bagging, Stacking, Boosting, Random Forests, GridSearchCV</a:t>
            </a:r>
            <a:endParaRPr sz="24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Lab Exercises: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5. Regression through Gradient Descent</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6. Comparison of Different Classifiers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7. Illustration of Ensemble Learning Methods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88" name="Google Shape;88;g3f4c8d25141_0_74"/>
          <p:cNvSpPr txBox="1"/>
          <p:nvPr>
            <p:ph idx="12" type="sldNum"/>
          </p:nvPr>
        </p:nvSpPr>
        <p:spPr>
          <a:xfrm>
            <a:off x="6311475" y="6408364"/>
            <a:ext cx="411600" cy="401400"/>
          </a:xfrm>
          <a:prstGeom prst="rect">
            <a:avLst/>
          </a:prstGeom>
        </p:spPr>
        <p:txBody>
          <a:bodyPr anchorCtr="0" anchor="ctr" bIns="121900" lIns="121900" spcFirstLastPara="1" rIns="121900" wrap="square" tIns="1219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42950" y="246838"/>
            <a:ext cx="8229600" cy="561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lang="en-US" sz="1600">
                <a:latin typeface="Times New Roman"/>
                <a:ea typeface="Times New Roman"/>
                <a:cs typeface="Times New Roman"/>
                <a:sym typeface="Times New Roman"/>
              </a:rPr>
              <a:t>What is Gradient Descent?</a:t>
            </a:r>
            <a:endParaRPr sz="1600">
              <a:latin typeface="Times New Roman"/>
              <a:ea typeface="Times New Roman"/>
              <a:cs typeface="Times New Roman"/>
              <a:sym typeface="Times New Roman"/>
            </a:endParaRPr>
          </a:p>
        </p:txBody>
      </p:sp>
      <p:sp>
        <p:nvSpPr>
          <p:cNvPr id="94" name="Google Shape;94;p2"/>
          <p:cNvSpPr txBox="1"/>
          <p:nvPr>
            <p:ph idx="1" type="body"/>
          </p:nvPr>
        </p:nvSpPr>
        <p:spPr>
          <a:xfrm>
            <a:off x="-62250" y="807950"/>
            <a:ext cx="9268500" cy="3116400"/>
          </a:xfrm>
          <a:prstGeom prst="rect">
            <a:avLst/>
          </a:prstGeom>
          <a:noFill/>
          <a:ln>
            <a:noFill/>
          </a:ln>
        </p:spPr>
        <p:txBody>
          <a:bodyPr anchorCtr="0" anchor="t" bIns="45700" lIns="91425" spcFirstLastPara="1" rIns="91425" wrap="square" tIns="45700">
            <a:normAutofit/>
          </a:bodyPr>
          <a:lstStyle/>
          <a:p>
            <a:pPr indent="-361950" lvl="0" marL="342900" rtl="0" algn="l">
              <a:spcBef>
                <a:spcPts val="0"/>
              </a:spcBef>
              <a:spcAft>
                <a:spcPts val="0"/>
              </a:spcAft>
              <a:buClr>
                <a:schemeClr val="dk1"/>
              </a:buClr>
              <a:buSzPts val="1700"/>
              <a:buFont typeface="Times New Roman"/>
              <a:buChar char="▪"/>
            </a:pPr>
            <a:r>
              <a:rPr lang="en-US" sz="1700">
                <a:latin typeface="Times New Roman"/>
                <a:ea typeface="Times New Roman"/>
                <a:cs typeface="Times New Roman"/>
                <a:sym typeface="Times New Roman"/>
              </a:rPr>
              <a:t>Gradient Descent is an iterative optimization technique used to find the minimum of a differentiable function. Here that function is our Loss Function.</a:t>
            </a:r>
            <a:endParaRPr sz="1700">
              <a:latin typeface="Times New Roman"/>
              <a:ea typeface="Times New Roman"/>
              <a:cs typeface="Times New Roman"/>
              <a:sym typeface="Times New Roman"/>
            </a:endParaRPr>
          </a:p>
          <a:p>
            <a:pPr indent="-361950" lvl="0" marL="342900" rtl="0" algn="l">
              <a:spcBef>
                <a:spcPts val="280"/>
              </a:spcBef>
              <a:spcAft>
                <a:spcPts val="0"/>
              </a:spcAft>
              <a:buClr>
                <a:schemeClr val="dk1"/>
              </a:buClr>
              <a:buSzPts val="1700"/>
              <a:buFont typeface="Times New Roman"/>
              <a:buChar char="▪"/>
            </a:pPr>
            <a:r>
              <a:rPr lang="en-US" sz="1700">
                <a:latin typeface="Times New Roman"/>
                <a:ea typeface="Times New Roman"/>
                <a:cs typeface="Times New Roman"/>
                <a:sym typeface="Times New Roman"/>
              </a:rPr>
              <a:t>The goal of gradient descent is to find a local minimum of a differentiable function.</a:t>
            </a:r>
            <a:endParaRPr sz="1700">
              <a:latin typeface="Times New Roman"/>
              <a:ea typeface="Times New Roman"/>
              <a:cs typeface="Times New Roman"/>
              <a:sym typeface="Times New Roman"/>
            </a:endParaRPr>
          </a:p>
          <a:p>
            <a:pPr indent="-361950" lvl="0" marL="342900" rtl="0" algn="l">
              <a:spcBef>
                <a:spcPts val="280"/>
              </a:spcBef>
              <a:spcAft>
                <a:spcPts val="0"/>
              </a:spcAft>
              <a:buClr>
                <a:schemeClr val="dk1"/>
              </a:buClr>
              <a:buSzPts val="1700"/>
              <a:buFont typeface="Times New Roman"/>
              <a:buChar char="▪"/>
            </a:pPr>
            <a:r>
              <a:rPr lang="en-US" sz="1700">
                <a:latin typeface="Times New Roman"/>
                <a:ea typeface="Times New Roman"/>
                <a:cs typeface="Times New Roman"/>
                <a:sym typeface="Times New Roman"/>
              </a:rPr>
              <a:t>Think of it as finding the lowest point in a hilly landscape.</a:t>
            </a:r>
            <a:endParaRPr sz="1700">
              <a:latin typeface="Times New Roman"/>
              <a:ea typeface="Times New Roman"/>
              <a:cs typeface="Times New Roman"/>
              <a:sym typeface="Times New Roman"/>
            </a:endParaRPr>
          </a:p>
          <a:p>
            <a:pPr indent="-361950" lvl="0" marL="342900" rtl="0" algn="l">
              <a:spcBef>
                <a:spcPts val="280"/>
              </a:spcBef>
              <a:spcAft>
                <a:spcPts val="0"/>
              </a:spcAft>
              <a:buClr>
                <a:schemeClr val="dk1"/>
              </a:buClr>
              <a:buSzPts val="1700"/>
              <a:buFont typeface="Times New Roman"/>
              <a:buChar char="▪"/>
            </a:pPr>
            <a:r>
              <a:rPr lang="en-US" sz="1700">
                <a:latin typeface="Times New Roman"/>
                <a:ea typeface="Times New Roman"/>
                <a:cs typeface="Times New Roman"/>
                <a:sym typeface="Times New Roman"/>
              </a:rPr>
              <a:t>Helps adjust the model's internal parameters (weights and biases) to improve performance.</a:t>
            </a:r>
            <a:endParaRPr sz="1700">
              <a:latin typeface="Times New Roman"/>
              <a:ea typeface="Times New Roman"/>
              <a:cs typeface="Times New Roman"/>
              <a:sym typeface="Times New Roman"/>
            </a:endParaRPr>
          </a:p>
          <a:p>
            <a:pPr indent="-361950" lvl="0" marL="342900" rtl="0" algn="l">
              <a:spcBef>
                <a:spcPts val="280"/>
              </a:spcBef>
              <a:spcAft>
                <a:spcPts val="0"/>
              </a:spcAft>
              <a:buClr>
                <a:schemeClr val="dk1"/>
              </a:buClr>
              <a:buSzPts val="1700"/>
              <a:buChar char="▪"/>
            </a:pPr>
            <a:r>
              <a:t/>
            </a:r>
            <a:endParaRPr sz="1700">
              <a:latin typeface="Times New Roman"/>
              <a:ea typeface="Times New Roman"/>
              <a:cs typeface="Times New Roman"/>
              <a:sym typeface="Times New Roman"/>
            </a:endParaRPr>
          </a:p>
          <a:p>
            <a:pPr indent="-228600" lvl="0" marL="342900" rtl="0" algn="l">
              <a:spcBef>
                <a:spcPts val="360"/>
              </a:spcBef>
              <a:spcAft>
                <a:spcPts val="0"/>
              </a:spcAft>
              <a:buClr>
                <a:schemeClr val="dk1"/>
              </a:buClr>
              <a:buSzPts val="1800"/>
              <a:buNone/>
            </a:pPr>
            <a:r>
              <a:t/>
            </a:r>
            <a:endParaRPr sz="1400">
              <a:latin typeface="Times New Roman"/>
              <a:ea typeface="Times New Roman"/>
              <a:cs typeface="Times New Roman"/>
              <a:sym typeface="Times New Roman"/>
            </a:endParaRPr>
          </a:p>
        </p:txBody>
      </p:sp>
      <p:pic>
        <p:nvPicPr>
          <p:cNvPr id="95" name="Google Shape;95;p2"/>
          <p:cNvPicPr preferRelativeResize="0"/>
          <p:nvPr/>
        </p:nvPicPr>
        <p:blipFill rotWithShape="1">
          <a:blip r:embed="rId3">
            <a:alphaModFix/>
          </a:blip>
          <a:srcRect b="0" l="0" r="0" t="0"/>
          <a:stretch/>
        </p:blipFill>
        <p:spPr>
          <a:xfrm>
            <a:off x="2556922" y="2446325"/>
            <a:ext cx="3201649" cy="2298375"/>
          </a:xfrm>
          <a:prstGeom prst="rect">
            <a:avLst/>
          </a:prstGeom>
          <a:noFill/>
          <a:ln>
            <a:noFill/>
          </a:ln>
        </p:spPr>
      </p:pic>
      <p:sp>
        <p:nvSpPr>
          <p:cNvPr id="96" name="Google Shape;96;p2"/>
          <p:cNvSpPr txBox="1"/>
          <p:nvPr/>
        </p:nvSpPr>
        <p:spPr>
          <a:xfrm>
            <a:off x="377425" y="4744700"/>
            <a:ext cx="8173200" cy="14202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280"/>
              </a:spcBef>
              <a:spcAft>
                <a:spcPts val="0"/>
              </a:spcAft>
              <a:buNone/>
            </a:pPr>
            <a:r>
              <a:rPr lang="en-US">
                <a:solidFill>
                  <a:schemeClr val="dk1"/>
                </a:solidFill>
                <a:latin typeface="Times New Roman"/>
                <a:ea typeface="Times New Roman"/>
                <a:cs typeface="Times New Roman"/>
                <a:sym typeface="Times New Roman"/>
              </a:rPr>
              <a:t>With respect to Linear Regression these weights and bias are Coefficients(Slope) and bias (intercept). </a:t>
            </a:r>
            <a:endParaRPr>
              <a:solidFill>
                <a:schemeClr val="dk1"/>
              </a:solidFill>
              <a:latin typeface="Times New Roman"/>
              <a:ea typeface="Times New Roman"/>
              <a:cs typeface="Times New Roman"/>
              <a:sym typeface="Times New Roman"/>
            </a:endParaRPr>
          </a:p>
          <a:p>
            <a:pPr indent="-342900" lvl="0" marL="342900" rtl="0" algn="l">
              <a:lnSpc>
                <a:spcPct val="110000"/>
              </a:lnSpc>
              <a:spcBef>
                <a:spcPts val="280"/>
              </a:spcBef>
              <a:spcAft>
                <a:spcPts val="0"/>
              </a:spcAft>
              <a:buClr>
                <a:schemeClr val="dk1"/>
              </a:buClr>
              <a:buSzPts val="1400"/>
              <a:buFont typeface="IBM Plex Sans Condensed"/>
              <a:buChar char="▪"/>
            </a:pPr>
            <a:r>
              <a:rPr b="1" lang="en-US">
                <a:solidFill>
                  <a:schemeClr val="dk1"/>
                </a:solidFill>
                <a:latin typeface="Times New Roman"/>
                <a:ea typeface="Times New Roman"/>
                <a:cs typeface="Times New Roman"/>
                <a:sym typeface="Times New Roman"/>
              </a:rPr>
              <a:t>Weights (coefficients):</a:t>
            </a:r>
            <a:r>
              <a:rPr lang="en-US">
                <a:solidFill>
                  <a:schemeClr val="dk1"/>
                </a:solidFill>
                <a:latin typeface="Times New Roman"/>
                <a:ea typeface="Times New Roman"/>
                <a:cs typeface="Times New Roman"/>
                <a:sym typeface="Times New Roman"/>
              </a:rPr>
              <a:t> These are the slope values for each input feature. They determine how much each feature contributes to the prediction. Example: In a house price model, the weight for "square footage" tells you how much the price increases per unit of area.</a:t>
            </a:r>
            <a:endParaRPr>
              <a:solidFill>
                <a:schemeClr val="dk1"/>
              </a:solidFill>
              <a:latin typeface="Times New Roman"/>
              <a:ea typeface="Times New Roman"/>
              <a:cs typeface="Times New Roman"/>
              <a:sym typeface="Times New Roman"/>
            </a:endParaRPr>
          </a:p>
          <a:p>
            <a:pPr indent="-342900" lvl="0" marL="342900" rtl="0" algn="l">
              <a:lnSpc>
                <a:spcPct val="110000"/>
              </a:lnSpc>
              <a:spcBef>
                <a:spcPts val="280"/>
              </a:spcBef>
              <a:spcAft>
                <a:spcPts val="0"/>
              </a:spcAft>
              <a:buClr>
                <a:schemeClr val="dk1"/>
              </a:buClr>
              <a:buSzPts val="1400"/>
              <a:buFont typeface="IBM Plex Sans Condensed"/>
              <a:buChar char="▪"/>
            </a:pPr>
            <a:r>
              <a:rPr b="1" lang="en-US">
                <a:solidFill>
                  <a:schemeClr val="dk1"/>
                </a:solidFill>
                <a:latin typeface="Times New Roman"/>
                <a:ea typeface="Times New Roman"/>
                <a:cs typeface="Times New Roman"/>
                <a:sym typeface="Times New Roman"/>
              </a:rPr>
              <a:t>Bias (intercept):</a:t>
            </a:r>
            <a:r>
              <a:rPr lang="en-US">
                <a:solidFill>
                  <a:schemeClr val="dk1"/>
                </a:solidFill>
                <a:latin typeface="Times New Roman"/>
                <a:ea typeface="Times New Roman"/>
                <a:cs typeface="Times New Roman"/>
                <a:sym typeface="Times New Roman"/>
              </a:rPr>
              <a:t> This is the baseline value when all inputs are zero. It shifts the regression line up or down</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f52423cb84_0_82"/>
          <p:cNvSpPr txBox="1"/>
          <p:nvPr>
            <p:ph idx="1" type="body"/>
          </p:nvPr>
        </p:nvSpPr>
        <p:spPr>
          <a:xfrm>
            <a:off x="128574" y="241325"/>
            <a:ext cx="8777700" cy="3564300"/>
          </a:xfrm>
          <a:prstGeom prst="rect">
            <a:avLst/>
          </a:prstGeom>
        </p:spPr>
        <p:txBody>
          <a:bodyPr anchorCtr="0" anchor="t" bIns="45700" lIns="91425" spcFirstLastPara="1" rIns="91425" wrap="square" tIns="45700">
            <a:normAutofit/>
          </a:bodyPr>
          <a:lstStyle/>
          <a:p>
            <a:pPr indent="0" lvl="0" marL="0" rtl="0" algn="just">
              <a:lnSpc>
                <a:spcPct val="115000"/>
              </a:lnSpc>
              <a:spcBef>
                <a:spcPts val="0"/>
              </a:spcBef>
              <a:spcAft>
                <a:spcPts val="0"/>
              </a:spcAft>
              <a:buClr>
                <a:schemeClr val="dk1"/>
              </a:buClr>
              <a:buSzPts val="1100"/>
              <a:buFont typeface="Arial"/>
              <a:buNone/>
            </a:pPr>
            <a:r>
              <a:rPr b="1" lang="en-US" sz="1400">
                <a:solidFill>
                  <a:srgbClr val="111111"/>
                </a:solidFill>
                <a:highlight>
                  <a:srgbClr val="FFFFFF"/>
                </a:highlight>
                <a:latin typeface="Times New Roman"/>
                <a:ea typeface="Times New Roman"/>
                <a:cs typeface="Times New Roman"/>
                <a:sym typeface="Times New Roman"/>
              </a:rPr>
              <a:t>Gradient descent</a:t>
            </a:r>
            <a:r>
              <a:rPr lang="en-US" sz="1400">
                <a:solidFill>
                  <a:srgbClr val="111111"/>
                </a:solidFill>
                <a:highlight>
                  <a:srgbClr val="FFFFFF"/>
                </a:highlight>
                <a:latin typeface="Times New Roman"/>
                <a:ea typeface="Times New Roman"/>
                <a:cs typeface="Times New Roman"/>
                <a:sym typeface="Times New Roman"/>
              </a:rPr>
              <a:t> is a basic algorithm for finding the value of </a:t>
            </a:r>
            <a:r>
              <a:rPr i="1" lang="en-US" sz="1400">
                <a:solidFill>
                  <a:srgbClr val="111111"/>
                </a:solidFill>
                <a:highlight>
                  <a:srgbClr val="FFFFFF"/>
                </a:highlight>
                <a:latin typeface="Times New Roman"/>
                <a:ea typeface="Times New Roman"/>
                <a:cs typeface="Times New Roman"/>
                <a:sym typeface="Times New Roman"/>
              </a:rPr>
              <a:t>X</a:t>
            </a:r>
            <a:r>
              <a:rPr lang="en-US" sz="1400">
                <a:solidFill>
                  <a:srgbClr val="111111"/>
                </a:solidFill>
                <a:highlight>
                  <a:srgbClr val="FFFFFF"/>
                </a:highlight>
                <a:latin typeface="Times New Roman"/>
                <a:ea typeface="Times New Roman"/>
                <a:cs typeface="Times New Roman"/>
                <a:sym typeface="Times New Roman"/>
              </a:rPr>
              <a:t> that minimizes the function </a:t>
            </a:r>
            <a:r>
              <a:rPr i="1" lang="en-US" sz="1400">
                <a:solidFill>
                  <a:srgbClr val="111111"/>
                </a:solidFill>
                <a:highlight>
                  <a:srgbClr val="FFFFFF"/>
                </a:highlight>
                <a:latin typeface="Times New Roman"/>
                <a:ea typeface="Times New Roman"/>
                <a:cs typeface="Times New Roman"/>
                <a:sym typeface="Times New Roman"/>
              </a:rPr>
              <a:t>f</a:t>
            </a:r>
            <a:r>
              <a:rPr lang="en-US" sz="1400">
                <a:solidFill>
                  <a:srgbClr val="111111"/>
                </a:solidFill>
                <a:highlight>
                  <a:srgbClr val="FFFFFF"/>
                </a:highlight>
                <a:latin typeface="Times New Roman"/>
                <a:ea typeface="Times New Roman"/>
                <a:cs typeface="Times New Roman"/>
                <a:sym typeface="Times New Roman"/>
              </a:rPr>
              <a:t>(</a:t>
            </a:r>
            <a:r>
              <a:rPr i="1" lang="en-US" sz="1400">
                <a:solidFill>
                  <a:srgbClr val="111111"/>
                </a:solidFill>
                <a:highlight>
                  <a:srgbClr val="FFFFFF"/>
                </a:highlight>
                <a:latin typeface="Times New Roman"/>
                <a:ea typeface="Times New Roman"/>
                <a:cs typeface="Times New Roman"/>
                <a:sym typeface="Times New Roman"/>
              </a:rPr>
              <a:t>X</a:t>
            </a:r>
            <a:r>
              <a:rPr lang="en-US" sz="1400">
                <a:solidFill>
                  <a:srgbClr val="111111"/>
                </a:solidFill>
                <a:highlight>
                  <a:srgbClr val="FFFFFF"/>
                </a:highlight>
                <a:latin typeface="Times New Roman"/>
                <a:ea typeface="Times New Roman"/>
                <a:cs typeface="Times New Roman"/>
                <a:sym typeface="Times New Roman"/>
              </a:rPr>
              <a:t>) in </a:t>
            </a:r>
            <a:r>
              <a:rPr i="1" lang="en-US" sz="1400">
                <a:solidFill>
                  <a:srgbClr val="111111"/>
                </a:solidFill>
                <a:highlight>
                  <a:srgbClr val="FFFFFF"/>
                </a:highlight>
                <a:latin typeface="Times New Roman"/>
                <a:ea typeface="Times New Roman"/>
                <a:cs typeface="Times New Roman"/>
                <a:sym typeface="Times New Roman"/>
              </a:rPr>
              <a:t>k</a:t>
            </a:r>
            <a:r>
              <a:rPr lang="en-US" sz="1400">
                <a:solidFill>
                  <a:srgbClr val="111111"/>
                </a:solidFill>
                <a:highlight>
                  <a:srgbClr val="FFFFFF"/>
                </a:highlight>
                <a:latin typeface="Times New Roman"/>
                <a:ea typeface="Times New Roman"/>
                <a:cs typeface="Times New Roman"/>
                <a:sym typeface="Times New Roman"/>
              </a:rPr>
              <a:t> variables </a:t>
            </a:r>
            <a:r>
              <a:rPr i="1" lang="en-US" sz="1400">
                <a:solidFill>
                  <a:srgbClr val="111111"/>
                </a:solidFill>
                <a:highlight>
                  <a:srgbClr val="FFFFFF"/>
                </a:highlight>
                <a:latin typeface="Times New Roman"/>
                <a:ea typeface="Times New Roman"/>
                <a:cs typeface="Times New Roman"/>
                <a:sym typeface="Times New Roman"/>
              </a:rPr>
              <a:t>X</a:t>
            </a:r>
            <a:r>
              <a:rPr lang="en-US" sz="1400">
                <a:solidFill>
                  <a:srgbClr val="111111"/>
                </a:solidFill>
                <a:highlight>
                  <a:srgbClr val="FFFFFF"/>
                </a:highlight>
                <a:latin typeface="Times New Roman"/>
                <a:ea typeface="Times New Roman"/>
                <a:cs typeface="Times New Roman"/>
                <a:sym typeface="Times New Roman"/>
              </a:rPr>
              <a:t>.</a:t>
            </a:r>
            <a:endParaRPr sz="1400">
              <a:solidFill>
                <a:srgbClr val="111111"/>
              </a:solidFill>
              <a:highlight>
                <a:srgbClr val="FFFFFF"/>
              </a:highlight>
              <a:latin typeface="Times New Roman"/>
              <a:ea typeface="Times New Roman"/>
              <a:cs typeface="Times New Roman"/>
              <a:sym typeface="Times New Roman"/>
            </a:endParaRPr>
          </a:p>
          <a:p>
            <a:pPr indent="0" lvl="0" marL="0" rtl="0" algn="just">
              <a:lnSpc>
                <a:spcPct val="115000"/>
              </a:lnSpc>
              <a:spcBef>
                <a:spcPts val="1900"/>
              </a:spcBef>
              <a:spcAft>
                <a:spcPts val="0"/>
              </a:spcAft>
              <a:buClr>
                <a:schemeClr val="dk1"/>
              </a:buClr>
              <a:buSzPts val="1100"/>
              <a:buFont typeface="Arial"/>
              <a:buNone/>
            </a:pPr>
            <a:r>
              <a:rPr b="1" lang="en-US" sz="1400">
                <a:solidFill>
                  <a:srgbClr val="111111"/>
                </a:solidFill>
                <a:highlight>
                  <a:srgbClr val="FFFFFF"/>
                </a:highlight>
                <a:latin typeface="Times New Roman"/>
                <a:ea typeface="Times New Roman"/>
                <a:cs typeface="Times New Roman"/>
                <a:sym typeface="Times New Roman"/>
              </a:rPr>
              <a:t>Assumptions</a:t>
            </a:r>
            <a:r>
              <a:rPr lang="en-US" sz="1400">
                <a:solidFill>
                  <a:srgbClr val="111111"/>
                </a:solidFill>
                <a:highlight>
                  <a:srgbClr val="FFFFFF"/>
                </a:highlight>
                <a:latin typeface="Times New Roman"/>
                <a:ea typeface="Times New Roman"/>
                <a:cs typeface="Times New Roman"/>
                <a:sym typeface="Times New Roman"/>
              </a:rPr>
              <a:t>:</a:t>
            </a:r>
            <a:endParaRPr sz="1400">
              <a:solidFill>
                <a:srgbClr val="111111"/>
              </a:solidFill>
              <a:highlight>
                <a:srgbClr val="FFFFFF"/>
              </a:highlight>
              <a:latin typeface="Times New Roman"/>
              <a:ea typeface="Times New Roman"/>
              <a:cs typeface="Times New Roman"/>
              <a:sym typeface="Times New Roman"/>
            </a:endParaRPr>
          </a:p>
          <a:p>
            <a:pPr indent="-317500" lvl="0" marL="457200" rtl="0" algn="just">
              <a:lnSpc>
                <a:spcPct val="115000"/>
              </a:lnSpc>
              <a:spcBef>
                <a:spcPts val="1900"/>
              </a:spcBef>
              <a:spcAft>
                <a:spcPts val="0"/>
              </a:spcAft>
              <a:buClr>
                <a:srgbClr val="111111"/>
              </a:buClr>
              <a:buSzPts val="1400"/>
              <a:buFont typeface="Georgia"/>
              <a:buAutoNum type="arabicPeriod"/>
            </a:pPr>
            <a:r>
              <a:rPr lang="en-US" sz="1400">
                <a:solidFill>
                  <a:srgbClr val="111111"/>
                </a:solidFill>
                <a:highlight>
                  <a:srgbClr val="FFFFFF"/>
                </a:highlight>
                <a:latin typeface="Times New Roman"/>
                <a:ea typeface="Times New Roman"/>
                <a:cs typeface="Times New Roman"/>
                <a:sym typeface="Times New Roman"/>
              </a:rPr>
              <a:t>The function is </a:t>
            </a:r>
            <a:r>
              <a:rPr b="1" lang="en-US" sz="1400">
                <a:solidFill>
                  <a:srgbClr val="111111"/>
                </a:solidFill>
                <a:highlight>
                  <a:srgbClr val="FFFFFF"/>
                </a:highlight>
                <a:latin typeface="Times New Roman"/>
                <a:ea typeface="Times New Roman"/>
                <a:cs typeface="Times New Roman"/>
                <a:sym typeface="Times New Roman"/>
              </a:rPr>
              <a:t>differentiable</a:t>
            </a:r>
            <a:r>
              <a:rPr lang="en-US" sz="1400">
                <a:solidFill>
                  <a:srgbClr val="111111"/>
                </a:solidFill>
                <a:highlight>
                  <a:srgbClr val="FFFFFF"/>
                </a:highlight>
                <a:latin typeface="Times New Roman"/>
                <a:ea typeface="Times New Roman"/>
                <a:cs typeface="Times New Roman"/>
                <a:sym typeface="Times New Roman"/>
              </a:rPr>
              <a:t>, which means that its graph is smooth, i.e. without gaps (discontinuities) or cusps (corners)</a:t>
            </a:r>
            <a:endParaRPr sz="1400">
              <a:solidFill>
                <a:srgbClr val="111111"/>
              </a:solidFill>
              <a:highlight>
                <a:srgbClr val="FFFFFF"/>
              </a:highlight>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rgbClr val="111111"/>
              </a:buClr>
              <a:buSzPts val="1400"/>
              <a:buFont typeface="Georgia"/>
              <a:buAutoNum type="arabicPeriod"/>
            </a:pPr>
            <a:r>
              <a:rPr lang="en-US" sz="1400">
                <a:solidFill>
                  <a:srgbClr val="111111"/>
                </a:solidFill>
                <a:highlight>
                  <a:srgbClr val="FFFFFF"/>
                </a:highlight>
                <a:latin typeface="Times New Roman"/>
                <a:ea typeface="Times New Roman"/>
                <a:cs typeface="Times New Roman"/>
                <a:sym typeface="Times New Roman"/>
              </a:rPr>
              <a:t>The function is </a:t>
            </a:r>
            <a:r>
              <a:rPr b="1" lang="en-US" sz="1400">
                <a:solidFill>
                  <a:srgbClr val="111111"/>
                </a:solidFill>
                <a:highlight>
                  <a:srgbClr val="FFFFFF"/>
                </a:highlight>
                <a:latin typeface="Times New Roman"/>
                <a:ea typeface="Times New Roman"/>
                <a:cs typeface="Times New Roman"/>
                <a:sym typeface="Times New Roman"/>
              </a:rPr>
              <a:t>convex</a:t>
            </a:r>
            <a:r>
              <a:rPr lang="en-US" sz="1400">
                <a:solidFill>
                  <a:srgbClr val="111111"/>
                </a:solidFill>
                <a:highlight>
                  <a:srgbClr val="FFFFFF"/>
                </a:highlight>
                <a:latin typeface="Times New Roman"/>
                <a:ea typeface="Times New Roman"/>
                <a:cs typeface="Times New Roman"/>
                <a:sym typeface="Times New Roman"/>
              </a:rPr>
              <a:t>, which means that any line connecting two points on the curve doesn’t pass through another point on the curve. These are the function which have only one global minima.</a:t>
            </a:r>
            <a:endParaRPr sz="1400">
              <a:solidFill>
                <a:srgbClr val="111111"/>
              </a:solidFill>
              <a:highlight>
                <a:srgbClr val="FFFFFF"/>
              </a:highlight>
              <a:latin typeface="Times New Roman"/>
              <a:ea typeface="Times New Roman"/>
              <a:cs typeface="Times New Roman"/>
              <a:sym typeface="Times New Roman"/>
            </a:endParaRPr>
          </a:p>
          <a:p>
            <a:pPr indent="0" lvl="0" marL="0" rtl="0" algn="l">
              <a:spcBef>
                <a:spcPts val="1900"/>
              </a:spcBef>
              <a:spcAft>
                <a:spcPts val="0"/>
              </a:spcAft>
              <a:buNone/>
            </a:pPr>
            <a:r>
              <a:t/>
            </a:r>
            <a:endParaRPr/>
          </a:p>
        </p:txBody>
      </p:sp>
      <p:sp>
        <p:nvSpPr>
          <p:cNvPr id="102" name="Google Shape;102;g3f52423cb84_0_82"/>
          <p:cNvSpPr txBox="1"/>
          <p:nvPr/>
        </p:nvSpPr>
        <p:spPr>
          <a:xfrm>
            <a:off x="214525" y="3875475"/>
            <a:ext cx="860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111111"/>
                </a:solidFill>
                <a:highlight>
                  <a:srgbClr val="FFFFFF"/>
                </a:highlight>
                <a:latin typeface="Georgia"/>
                <a:ea typeface="Georgia"/>
                <a:cs typeface="Georgia"/>
                <a:sym typeface="Georgia"/>
              </a:rPr>
              <a:t>For a function with these two properties, any local minimum is a global minimum.</a:t>
            </a:r>
            <a:r>
              <a:rPr lang="en-US" sz="1100">
                <a:solidFill>
                  <a:schemeClr val="dk1"/>
                </a:solidFill>
              </a:rPr>
              <a:t> </a:t>
            </a:r>
            <a:endParaRPr/>
          </a:p>
        </p:txBody>
      </p:sp>
      <p:pic>
        <p:nvPicPr>
          <p:cNvPr id="103" name="Google Shape;103;g3f52423cb84_0_82"/>
          <p:cNvPicPr preferRelativeResize="0"/>
          <p:nvPr/>
        </p:nvPicPr>
        <p:blipFill>
          <a:blip r:embed="rId3">
            <a:alphaModFix/>
          </a:blip>
          <a:stretch>
            <a:fillRect/>
          </a:stretch>
        </p:blipFill>
        <p:spPr>
          <a:xfrm>
            <a:off x="1158550" y="2299275"/>
            <a:ext cx="4409374" cy="1506350"/>
          </a:xfrm>
          <a:prstGeom prst="rect">
            <a:avLst/>
          </a:prstGeom>
          <a:noFill/>
          <a:ln>
            <a:noFill/>
          </a:ln>
        </p:spPr>
      </p:pic>
      <p:sp>
        <p:nvSpPr>
          <p:cNvPr id="104" name="Google Shape;104;g3f52423cb84_0_82"/>
          <p:cNvSpPr txBox="1"/>
          <p:nvPr/>
        </p:nvSpPr>
        <p:spPr>
          <a:xfrm>
            <a:off x="249300" y="5808625"/>
            <a:ext cx="8645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https://medium.com/@gayatrinikam5103/convex-vs-non-convex-functions-in-ml-navigating-the-peaks-and-valleys-011e25409c6e</a:t>
            </a:r>
            <a:r>
              <a:rPr lang="en-US"/>
              <a:t> </a:t>
            </a:r>
            <a:endParaRPr/>
          </a:p>
        </p:txBody>
      </p:sp>
      <p:pic>
        <p:nvPicPr>
          <p:cNvPr id="105" name="Google Shape;105;g3f52423cb84_0_82"/>
          <p:cNvPicPr preferRelativeResize="0"/>
          <p:nvPr/>
        </p:nvPicPr>
        <p:blipFill>
          <a:blip r:embed="rId5">
            <a:alphaModFix/>
          </a:blip>
          <a:stretch>
            <a:fillRect/>
          </a:stretch>
        </p:blipFill>
        <p:spPr>
          <a:xfrm>
            <a:off x="1821375" y="4275676"/>
            <a:ext cx="2816826" cy="1653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type="title"/>
          </p:nvPr>
        </p:nvSpPr>
        <p:spPr>
          <a:xfrm>
            <a:off x="104050" y="403751"/>
            <a:ext cx="7743900" cy="6036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sz="3600">
                <a:latin typeface="Times New Roman"/>
                <a:ea typeface="Times New Roman"/>
                <a:cs typeface="Times New Roman"/>
                <a:sym typeface="Times New Roman"/>
              </a:rPr>
              <a:t>Why Do We Need Gradient Descent?</a:t>
            </a:r>
            <a:endParaRPr/>
          </a:p>
        </p:txBody>
      </p:sp>
      <p:sp>
        <p:nvSpPr>
          <p:cNvPr id="111" name="Google Shape;111;p3"/>
          <p:cNvSpPr txBox="1"/>
          <p:nvPr>
            <p:ph idx="1" type="body"/>
          </p:nvPr>
        </p:nvSpPr>
        <p:spPr>
          <a:xfrm>
            <a:off x="196109" y="1217081"/>
            <a:ext cx="7743900" cy="3564300"/>
          </a:xfrm>
          <a:prstGeom prst="rect">
            <a:avLst/>
          </a:prstGeom>
          <a:noFill/>
          <a:ln>
            <a:noFill/>
          </a:ln>
        </p:spPr>
        <p:txBody>
          <a:bodyPr anchorCtr="0" anchor="t" bIns="45700" lIns="91425" spcFirstLastPara="1" rIns="91425" wrap="square" tIns="45700">
            <a:normAutofit/>
          </a:bodyPr>
          <a:lstStyle/>
          <a:p>
            <a:pPr indent="-317500" lvl="0" marL="342900" rtl="0" algn="l">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Machine learning models aim to minimize a loss function (a measure of error).</a:t>
            </a:r>
            <a:endParaRPr sz="2400">
              <a:latin typeface="Times New Roman"/>
              <a:ea typeface="Times New Roman"/>
              <a:cs typeface="Times New Roman"/>
              <a:sym typeface="Times New Roman"/>
            </a:endParaRPr>
          </a:p>
          <a:p>
            <a:pPr indent="-317500" lvl="0" marL="342900" rtl="0" algn="l">
              <a:spcBef>
                <a:spcPts val="56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Gradient Descent helps find the best set of parameters that reduce this error.</a:t>
            </a:r>
            <a:endParaRPr sz="2400">
              <a:latin typeface="Times New Roman"/>
              <a:ea typeface="Times New Roman"/>
              <a:cs typeface="Times New Roman"/>
              <a:sym typeface="Times New Roman"/>
            </a:endParaRPr>
          </a:p>
          <a:p>
            <a:pPr indent="-317500" lvl="0" marL="342900" rtl="0" algn="l">
              <a:spcBef>
                <a:spcPts val="56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Without Gradient Descent, models cannot improve their accuracy.</a:t>
            </a:r>
            <a:endParaRPr sz="2400">
              <a:latin typeface="Times New Roman"/>
              <a:ea typeface="Times New Roman"/>
              <a:cs typeface="Times New Roman"/>
              <a:sym typeface="Times New Roman"/>
            </a:endParaRPr>
          </a:p>
        </p:txBody>
      </p:sp>
      <p:pic>
        <p:nvPicPr>
          <p:cNvPr id="112" name="Google Shape;112;p3"/>
          <p:cNvPicPr preferRelativeResize="0"/>
          <p:nvPr/>
        </p:nvPicPr>
        <p:blipFill rotWithShape="1">
          <a:blip r:embed="rId3">
            <a:alphaModFix/>
          </a:blip>
          <a:srcRect b="0" l="0" r="0" t="0"/>
          <a:stretch/>
        </p:blipFill>
        <p:spPr>
          <a:xfrm>
            <a:off x="3398310" y="3428996"/>
            <a:ext cx="5550310" cy="277515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457200" y="274638"/>
            <a:ext cx="8229600" cy="482446"/>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rPr lang="en-US" sz="3200">
                <a:latin typeface="Times New Roman"/>
                <a:ea typeface="Times New Roman"/>
                <a:cs typeface="Times New Roman"/>
                <a:sym typeface="Times New Roman"/>
              </a:rPr>
              <a:t>Example/Analogy </a:t>
            </a:r>
            <a:endParaRPr/>
          </a:p>
        </p:txBody>
      </p:sp>
      <p:sp>
        <p:nvSpPr>
          <p:cNvPr id="118" name="Google Shape;118;p4"/>
          <p:cNvSpPr txBox="1"/>
          <p:nvPr/>
        </p:nvSpPr>
        <p:spPr>
          <a:xfrm>
            <a:off x="300499" y="796631"/>
            <a:ext cx="8543100" cy="1754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Imagine a valley and a person with no sense of  direction who wants to get to the bottom of the valley. </a:t>
            </a:r>
            <a:endParaRPr/>
          </a:p>
          <a:p>
            <a:pPr indent="0" lvl="0" marL="0" marR="0" rtl="0" algn="just">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 He goes down the slope and takes large steps  when the slope is steep and small steps when  the slope is less steep. </a:t>
            </a:r>
            <a:endParaRPr/>
          </a:p>
          <a:p>
            <a:pPr indent="0" lvl="0" marL="0" marR="0" rtl="0" algn="just">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 He decides his next position based on his current position and stops when he gets to the </a:t>
            </a:r>
            <a:endParaRPr/>
          </a:p>
          <a:p>
            <a:pPr indent="0" lvl="0" marL="0" marR="0" rtl="0" algn="just">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bottom of the valley which was his goal.</a:t>
            </a:r>
            <a:endParaRPr/>
          </a:p>
        </p:txBody>
      </p:sp>
      <p:pic>
        <p:nvPicPr>
          <p:cNvPr descr="/mnt/data/combined_gd_assets/G03.png" id="119" name="Google Shape;119;p4"/>
          <p:cNvPicPr preferRelativeResize="0"/>
          <p:nvPr/>
        </p:nvPicPr>
        <p:blipFill rotWithShape="1">
          <a:blip r:embed="rId3">
            <a:alphaModFix/>
          </a:blip>
          <a:srcRect b="0" l="0" r="0" t="0"/>
          <a:stretch/>
        </p:blipFill>
        <p:spPr>
          <a:xfrm>
            <a:off x="406550" y="3078525"/>
            <a:ext cx="4084350" cy="3240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nvSpPr>
        <p:spPr>
          <a:xfrm>
            <a:off x="36825" y="263639"/>
            <a:ext cx="8674200" cy="25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Let’s try applying gradient descent to m and c and approach it step by step:</a:t>
            </a:r>
            <a:endParaRPr b="0" i="0" sz="18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 Initially let m = 0 and c = 0. Let L be our learning rate. </a:t>
            </a:r>
            <a:r>
              <a:rPr lang="en-US" sz="1800">
                <a:solidFill>
                  <a:schemeClr val="dk1"/>
                </a:solidFill>
                <a:latin typeface="Times New Roman"/>
                <a:ea typeface="Times New Roman"/>
                <a:cs typeface="Times New Roman"/>
                <a:sym typeface="Times New Roman"/>
              </a:rPr>
              <a:t>Simple start from any random point.</a:t>
            </a:r>
            <a:endParaRPr b="0" i="0" sz="18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 This controls how much the value of m changes with each step. L could be a small value like 0.0001 for good accuracy.</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2. Calculate the partial derivative of the loss function with respect to m, and plug in the current values of x, y, m and c in it to obtain the derivative value D (Loss Function).</a:t>
            </a:r>
            <a:endParaRPr/>
          </a:p>
        </p:txBody>
      </p:sp>
      <p:pic>
        <p:nvPicPr>
          <p:cNvPr id="125" name="Google Shape;125;p5"/>
          <p:cNvPicPr preferRelativeResize="0"/>
          <p:nvPr/>
        </p:nvPicPr>
        <p:blipFill rotWithShape="1">
          <a:blip r:embed="rId3">
            <a:alphaModFix/>
          </a:blip>
          <a:srcRect b="0" l="0" r="0" t="0"/>
          <a:stretch/>
        </p:blipFill>
        <p:spPr>
          <a:xfrm>
            <a:off x="2764949" y="2849649"/>
            <a:ext cx="3217951" cy="1158700"/>
          </a:xfrm>
          <a:prstGeom prst="rect">
            <a:avLst/>
          </a:prstGeom>
          <a:noFill/>
          <a:ln>
            <a:noFill/>
          </a:ln>
        </p:spPr>
      </p:pic>
      <p:sp>
        <p:nvSpPr>
          <p:cNvPr id="126" name="Google Shape;126;p5"/>
          <p:cNvSpPr txBox="1"/>
          <p:nvPr/>
        </p:nvSpPr>
        <p:spPr>
          <a:xfrm>
            <a:off x="303800" y="4104160"/>
            <a:ext cx="84201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 is the value of the partial derivative with respect to m. Similarly lets find the partial derivative with respect to c, Dc : </a:t>
            </a:r>
            <a:endParaRPr/>
          </a:p>
        </p:txBody>
      </p:sp>
      <p:pic>
        <p:nvPicPr>
          <p:cNvPr id="127" name="Google Shape;127;p5"/>
          <p:cNvPicPr preferRelativeResize="0"/>
          <p:nvPr/>
        </p:nvPicPr>
        <p:blipFill rotWithShape="1">
          <a:blip r:embed="rId4">
            <a:alphaModFix/>
          </a:blip>
          <a:srcRect b="0" l="0" r="0" t="0"/>
          <a:stretch/>
        </p:blipFill>
        <p:spPr>
          <a:xfrm>
            <a:off x="3174577" y="5021528"/>
            <a:ext cx="2226750" cy="745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nvSpPr>
        <p:spPr>
          <a:xfrm>
            <a:off x="319549" y="210194"/>
            <a:ext cx="8026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Now we update the current value of m and c using the following equation:</a:t>
            </a:r>
            <a:endParaRPr/>
          </a:p>
        </p:txBody>
      </p:sp>
      <p:pic>
        <p:nvPicPr>
          <p:cNvPr id="133" name="Google Shape;133;p6"/>
          <p:cNvPicPr preferRelativeResize="0"/>
          <p:nvPr/>
        </p:nvPicPr>
        <p:blipFill rotWithShape="1">
          <a:blip r:embed="rId3">
            <a:alphaModFix/>
          </a:blip>
          <a:srcRect b="0" l="0" r="0" t="0"/>
          <a:stretch/>
        </p:blipFill>
        <p:spPr>
          <a:xfrm>
            <a:off x="2833582" y="735981"/>
            <a:ext cx="2644369" cy="1082134"/>
          </a:xfrm>
          <a:prstGeom prst="rect">
            <a:avLst/>
          </a:prstGeom>
          <a:noFill/>
          <a:ln>
            <a:noFill/>
          </a:ln>
        </p:spPr>
      </p:pic>
      <p:sp>
        <p:nvSpPr>
          <p:cNvPr id="134" name="Google Shape;134;p6"/>
          <p:cNvSpPr txBox="1"/>
          <p:nvPr/>
        </p:nvSpPr>
        <p:spPr>
          <a:xfrm>
            <a:off x="161923" y="5724476"/>
            <a:ext cx="83947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4. We repeat this process until our loss function is a very small value or ideally 0 (which means 0 error or 100% accuracy). The value of m and c that we are left with now will be the optimum values. </a:t>
            </a:r>
            <a:endParaRPr/>
          </a:p>
        </p:txBody>
      </p:sp>
      <p:pic>
        <p:nvPicPr>
          <p:cNvPr descr="/mnt/data/combined_gd_assets/V04.png" id="135" name="Google Shape;135;p6"/>
          <p:cNvPicPr preferRelativeResize="0"/>
          <p:nvPr/>
        </p:nvPicPr>
        <p:blipFill rotWithShape="1">
          <a:blip r:embed="rId4">
            <a:alphaModFix/>
          </a:blip>
          <a:srcRect b="0" l="0" r="0" t="0"/>
          <a:stretch/>
        </p:blipFill>
        <p:spPr>
          <a:xfrm>
            <a:off x="161922" y="2397129"/>
            <a:ext cx="4160845" cy="2167506"/>
          </a:xfrm>
          <a:prstGeom prst="rect">
            <a:avLst/>
          </a:prstGeom>
          <a:noFill/>
          <a:ln>
            <a:noFill/>
          </a:ln>
        </p:spPr>
      </p:pic>
      <p:sp>
        <p:nvSpPr>
          <p:cNvPr id="136" name="Google Shape;136;p6"/>
          <p:cNvSpPr txBox="1"/>
          <p:nvPr/>
        </p:nvSpPr>
        <p:spPr>
          <a:xfrm>
            <a:off x="314323" y="4897110"/>
            <a:ext cx="83947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Here , B</a:t>
            </a:r>
            <a:r>
              <a:rPr lang="en-US" sz="1200">
                <a:solidFill>
                  <a:schemeClr val="dk1"/>
                </a:solidFill>
                <a:latin typeface="Times New Roman"/>
                <a:ea typeface="Times New Roman"/>
                <a:cs typeface="Times New Roman"/>
                <a:sym typeface="Times New Roman"/>
              </a:rPr>
              <a:t>new</a:t>
            </a:r>
            <a:r>
              <a:rPr lang="en-US" sz="1800">
                <a:solidFill>
                  <a:schemeClr val="dk1"/>
                </a:solidFill>
                <a:latin typeface="Times New Roman"/>
                <a:ea typeface="Times New Roman"/>
                <a:cs typeface="Times New Roman"/>
                <a:sym typeface="Times New Roman"/>
              </a:rPr>
              <a:t> is c represents the new value of the intercept.</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L represents LR and Dc represents the slope.</a:t>
            </a:r>
            <a:endParaRPr/>
          </a:p>
        </p:txBody>
      </p:sp>
      <p:pic>
        <p:nvPicPr>
          <p:cNvPr descr="/mnt/data/combined_gd_assets/M04.png" id="137" name="Google Shape;137;p6"/>
          <p:cNvPicPr preferRelativeResize="0"/>
          <p:nvPr/>
        </p:nvPicPr>
        <p:blipFill rotWithShape="1">
          <a:blip r:embed="rId5">
            <a:alphaModFix/>
          </a:blip>
          <a:srcRect b="0" l="0" r="0" t="0"/>
          <a:stretch/>
        </p:blipFill>
        <p:spPr>
          <a:xfrm>
            <a:off x="4821233" y="2361580"/>
            <a:ext cx="3887790" cy="216992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mnt/data/combined_gd_assets/G06.png" id="142" name="Google Shape;142;p7"/>
          <p:cNvPicPr preferRelativeResize="0"/>
          <p:nvPr/>
        </p:nvPicPr>
        <p:blipFill rotWithShape="1">
          <a:blip r:embed="rId3">
            <a:alphaModFix/>
          </a:blip>
          <a:srcRect b="0" l="0" r="0" t="0"/>
          <a:stretch/>
        </p:blipFill>
        <p:spPr>
          <a:xfrm>
            <a:off x="147473" y="1249447"/>
            <a:ext cx="8552273" cy="4773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mnt/data/combined_gd_assets/G08.png" id="147" name="Google Shape;147;p8"/>
          <p:cNvPicPr preferRelativeResize="0"/>
          <p:nvPr/>
        </p:nvPicPr>
        <p:blipFill rotWithShape="1">
          <a:blip r:embed="rId3">
            <a:alphaModFix/>
          </a:blip>
          <a:srcRect b="0" l="0" r="0" t="0"/>
          <a:stretch/>
        </p:blipFill>
        <p:spPr>
          <a:xfrm>
            <a:off x="60525" y="337075"/>
            <a:ext cx="4348800" cy="2880474"/>
          </a:xfrm>
          <a:prstGeom prst="rect">
            <a:avLst/>
          </a:prstGeom>
          <a:noFill/>
          <a:ln>
            <a:noFill/>
          </a:ln>
        </p:spPr>
      </p:pic>
      <p:pic>
        <p:nvPicPr>
          <p:cNvPr descr="/mnt/data/combined_gd_assets/V08.png" id="148" name="Google Shape;148;p8"/>
          <p:cNvPicPr preferRelativeResize="0"/>
          <p:nvPr/>
        </p:nvPicPr>
        <p:blipFill rotWithShape="1">
          <a:blip r:embed="rId4">
            <a:alphaModFix/>
          </a:blip>
          <a:srcRect b="0" l="0" r="0" t="0"/>
          <a:stretch/>
        </p:blipFill>
        <p:spPr>
          <a:xfrm>
            <a:off x="3935776" y="3311625"/>
            <a:ext cx="5160850" cy="28804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nvSpPr>
        <p:spPr>
          <a:xfrm>
            <a:off x="133742" y="610432"/>
            <a:ext cx="8724900" cy="1754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Now going back to our analogy, m can be considered the current position of the person. D is equivalent to the steepness of the slope and L can be the speed with which he moves. </a:t>
            </a:r>
            <a:endParaRPr sz="1100">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 Now the new value of m that we calculate using the above equation will be his next position, and L×D will be the size of the steps he will take. </a:t>
            </a:r>
            <a:endParaRPr sz="1100">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 When the slope is more steep (D is more) he takes longer steps and when it is less steep (D is less), he takes smaller steps. Finally he arrives at the bottom of the valley which corresponds to our loss = 0. </a:t>
            </a:r>
            <a:endParaRPr sz="1300">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lang="en-US" sz="1500">
                <a:solidFill>
                  <a:schemeClr val="dk1"/>
                </a:solidFill>
                <a:latin typeface="Times New Roman"/>
                <a:ea typeface="Times New Roman"/>
                <a:cs typeface="Times New Roman"/>
                <a:sym typeface="Times New Roman"/>
              </a:rPr>
              <a:t>• Now with the optimum value of m and c our model is ready to make predictions </a:t>
            </a:r>
            <a:endParaRPr sz="1100">
              <a:latin typeface="Times New Roman"/>
              <a:ea typeface="Times New Roman"/>
              <a:cs typeface="Times New Roman"/>
              <a:sym typeface="Times New Roman"/>
            </a:endParaRPr>
          </a:p>
        </p:txBody>
      </p:sp>
      <p:pic>
        <p:nvPicPr>
          <p:cNvPr descr="/mnt/data/combined_gd_assets/G04.png" id="154" name="Google Shape;154;p9"/>
          <p:cNvPicPr preferRelativeResize="0"/>
          <p:nvPr/>
        </p:nvPicPr>
        <p:blipFill rotWithShape="1">
          <a:blip r:embed="rId3">
            <a:alphaModFix/>
          </a:blip>
          <a:srcRect b="0" l="0" r="0" t="0"/>
          <a:stretch/>
        </p:blipFill>
        <p:spPr>
          <a:xfrm>
            <a:off x="4303531" y="3056315"/>
            <a:ext cx="4618702" cy="2577880"/>
          </a:xfrm>
          <a:prstGeom prst="rect">
            <a:avLst/>
          </a:prstGeom>
          <a:noFill/>
          <a:ln>
            <a:noFill/>
          </a:ln>
        </p:spPr>
      </p:pic>
      <p:pic>
        <p:nvPicPr>
          <p:cNvPr id="155" name="Google Shape;155;p9"/>
          <p:cNvPicPr preferRelativeResize="0"/>
          <p:nvPr/>
        </p:nvPicPr>
        <p:blipFill rotWithShape="1">
          <a:blip r:embed="rId4">
            <a:alphaModFix/>
          </a:blip>
          <a:srcRect b="0" l="0" r="0" t="0"/>
          <a:stretch/>
        </p:blipFill>
        <p:spPr>
          <a:xfrm>
            <a:off x="381677" y="3038703"/>
            <a:ext cx="3453020" cy="2145805"/>
          </a:xfrm>
          <a:prstGeom prst="rect">
            <a:avLst/>
          </a:prstGeom>
          <a:noFill/>
          <a:ln>
            <a:noFill/>
          </a:ln>
        </p:spPr>
      </p:pic>
      <p:sp>
        <p:nvSpPr>
          <p:cNvPr id="156" name="Google Shape;156;p9"/>
          <p:cNvSpPr txBox="1"/>
          <p:nvPr/>
        </p:nvSpPr>
        <p:spPr>
          <a:xfrm>
            <a:off x="0" y="6325400"/>
            <a:ext cx="83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5"/>
              </a:rPr>
              <a:t>https://www.kaggle.com/code/abdalimran/intuition-of-gradient-descent-for-machine-learning</a:t>
            </a:r>
            <a:r>
              <a:rPr lang="en-US"/>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g3f52423cb84_0_0"/>
          <p:cNvPicPr preferRelativeResize="0"/>
          <p:nvPr/>
        </p:nvPicPr>
        <p:blipFill>
          <a:blip r:embed="rId3">
            <a:alphaModFix/>
          </a:blip>
          <a:stretch>
            <a:fillRect/>
          </a:stretch>
        </p:blipFill>
        <p:spPr>
          <a:xfrm>
            <a:off x="562563" y="958725"/>
            <a:ext cx="8018876" cy="534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1"/>
          <p:cNvSpPr txBox="1"/>
          <p:nvPr>
            <p:ph type="title"/>
          </p:nvPr>
        </p:nvSpPr>
        <p:spPr>
          <a:xfrm>
            <a:off x="61750" y="270900"/>
            <a:ext cx="8229600" cy="432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57143"/>
              <a:buFont typeface="Times New Roman"/>
              <a:buNone/>
            </a:pPr>
            <a:r>
              <a:rPr b="1" lang="en-US" sz="2800">
                <a:latin typeface="Times New Roman"/>
                <a:ea typeface="Times New Roman"/>
                <a:cs typeface="Times New Roman"/>
                <a:sym typeface="Times New Roman"/>
              </a:rPr>
              <a:t>Challenges in Gradient Descent</a:t>
            </a:r>
            <a:endParaRPr b="1" sz="2800">
              <a:latin typeface="Times New Roman"/>
              <a:ea typeface="Times New Roman"/>
              <a:cs typeface="Times New Roman"/>
              <a:sym typeface="Times New Roman"/>
            </a:endParaRPr>
          </a:p>
        </p:txBody>
      </p:sp>
      <p:sp>
        <p:nvSpPr>
          <p:cNvPr id="167" name="Google Shape;167;p11"/>
          <p:cNvSpPr txBox="1"/>
          <p:nvPr>
            <p:ph idx="1" type="body"/>
          </p:nvPr>
        </p:nvSpPr>
        <p:spPr>
          <a:xfrm>
            <a:off x="0" y="703500"/>
            <a:ext cx="9144000" cy="1822800"/>
          </a:xfrm>
          <a:prstGeom prst="rect">
            <a:avLst/>
          </a:prstGeom>
          <a:noFill/>
          <a:ln>
            <a:noFill/>
          </a:ln>
        </p:spPr>
        <p:txBody>
          <a:bodyPr anchorCtr="0" anchor="t" bIns="45700" lIns="91425" spcFirstLastPara="1" rIns="91425" wrap="square" tIns="45700">
            <a:noAutofit/>
          </a:bodyPr>
          <a:lstStyle/>
          <a:p>
            <a:pPr indent="-349250" lvl="0" marL="457200" rtl="0" algn="l">
              <a:lnSpc>
                <a:spcPct val="80000"/>
              </a:lnSpc>
              <a:spcBef>
                <a:spcPts val="0"/>
              </a:spcBef>
              <a:spcAft>
                <a:spcPts val="0"/>
              </a:spcAft>
              <a:buSzPts val="1900"/>
              <a:buFont typeface="Times New Roman"/>
              <a:buAutoNum type="arabicPeriod"/>
            </a:pPr>
            <a:r>
              <a:rPr b="1" lang="en-US" sz="1900">
                <a:latin typeface="Times New Roman"/>
                <a:ea typeface="Times New Roman"/>
                <a:cs typeface="Times New Roman"/>
                <a:sym typeface="Times New Roman"/>
              </a:rPr>
              <a:t>Learning Rate:</a:t>
            </a:r>
            <a:endParaRPr b="1" sz="1900"/>
          </a:p>
          <a:p>
            <a:pPr indent="0" lvl="0" marL="0" rtl="0" algn="l">
              <a:lnSpc>
                <a:spcPct val="80000"/>
              </a:lnSpc>
              <a:spcBef>
                <a:spcPts val="592"/>
              </a:spcBef>
              <a:spcAft>
                <a:spcPts val="0"/>
              </a:spcAft>
              <a:buClr>
                <a:schemeClr val="dk1"/>
              </a:buClr>
              <a:buSzPts val="2960"/>
              <a:buNone/>
            </a:pPr>
            <a:r>
              <a:rPr lang="en-US" sz="15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 It is a key parameter in machine learning that controls how much a model updates its weights during training. </a:t>
            </a:r>
            <a:r>
              <a:rPr lang="en-US" sz="2000">
                <a:latin typeface="Times New Roman"/>
                <a:ea typeface="Times New Roman"/>
                <a:cs typeface="Times New Roman"/>
                <a:sym typeface="Times New Roman"/>
              </a:rPr>
              <a:t>The learning rate determines the magnitude of the changes to make to the weights and bias during each step of the gradient descent process. The model multiplies the gradient by the learning rate to determine the model's parameters (weight and bias values) for the next iteration. In the third step of </a:t>
            </a:r>
            <a:r>
              <a:rPr lang="en-US" sz="2000">
                <a:uFill>
                  <a:noFill/>
                </a:uFill>
                <a:latin typeface="Times New Roman"/>
                <a:ea typeface="Times New Roman"/>
                <a:cs typeface="Times New Roman"/>
                <a:sym typeface="Times New Roman"/>
                <a:hlinkClick r:id="rId3"/>
              </a:rPr>
              <a:t>gradient descent</a:t>
            </a:r>
            <a:r>
              <a:rPr lang="en-US" sz="2000">
                <a:latin typeface="Times New Roman"/>
                <a:ea typeface="Times New Roman"/>
                <a:cs typeface="Times New Roman"/>
                <a:sym typeface="Times New Roman"/>
              </a:rPr>
              <a:t>, the "small amount" to move in the direction of negative slope refers to the learning rate. </a:t>
            </a:r>
            <a:endParaRPr sz="2000">
              <a:latin typeface="Times New Roman"/>
              <a:ea typeface="Times New Roman"/>
              <a:cs typeface="Times New Roman"/>
              <a:sym typeface="Times New Roman"/>
            </a:endParaRPr>
          </a:p>
          <a:p>
            <a:pPr indent="0" lvl="0" marL="0" rtl="0" algn="l">
              <a:lnSpc>
                <a:spcPct val="80000"/>
              </a:lnSpc>
              <a:spcBef>
                <a:spcPts val="592"/>
              </a:spcBef>
              <a:spcAft>
                <a:spcPts val="0"/>
              </a:spcAft>
              <a:buClr>
                <a:schemeClr val="dk1"/>
              </a:buClr>
              <a:buSzPts val="2960"/>
              <a:buNone/>
            </a:pPr>
            <a:r>
              <a:t/>
            </a:r>
            <a:endParaRPr sz="2000">
              <a:latin typeface="Times New Roman"/>
              <a:ea typeface="Times New Roman"/>
              <a:cs typeface="Times New Roman"/>
              <a:sym typeface="Times New Roman"/>
            </a:endParaRPr>
          </a:p>
          <a:p>
            <a:pPr indent="0" lvl="0" marL="0" rtl="0" algn="l">
              <a:lnSpc>
                <a:spcPct val="80000"/>
              </a:lnSpc>
              <a:spcBef>
                <a:spcPts val="592"/>
              </a:spcBef>
              <a:spcAft>
                <a:spcPts val="0"/>
              </a:spcAft>
              <a:buClr>
                <a:schemeClr val="dk1"/>
              </a:buClr>
              <a:buSzPts val="2960"/>
              <a:buNone/>
            </a:pPr>
            <a:r>
              <a:t/>
            </a:r>
            <a:endParaRPr sz="1500">
              <a:latin typeface="Times New Roman"/>
              <a:ea typeface="Times New Roman"/>
              <a:cs typeface="Times New Roman"/>
              <a:sym typeface="Times New Roman"/>
            </a:endParaRPr>
          </a:p>
          <a:p>
            <a:pPr indent="0" lvl="0" marL="0" rtl="0" algn="l">
              <a:lnSpc>
                <a:spcPct val="80000"/>
              </a:lnSpc>
              <a:spcBef>
                <a:spcPts val="592"/>
              </a:spcBef>
              <a:spcAft>
                <a:spcPts val="0"/>
              </a:spcAft>
              <a:buClr>
                <a:schemeClr val="dk1"/>
              </a:buClr>
              <a:buSzPts val="2960"/>
              <a:buNone/>
            </a:pPr>
            <a:r>
              <a:t/>
            </a:r>
            <a:endParaRPr sz="1500">
              <a:latin typeface="Times New Roman"/>
              <a:ea typeface="Times New Roman"/>
              <a:cs typeface="Times New Roman"/>
              <a:sym typeface="Times New Roman"/>
            </a:endParaRPr>
          </a:p>
          <a:p>
            <a:pPr indent="0" lvl="0" marL="0" rtl="0" algn="l">
              <a:lnSpc>
                <a:spcPct val="80000"/>
              </a:lnSpc>
              <a:spcBef>
                <a:spcPts val="592"/>
              </a:spcBef>
              <a:spcAft>
                <a:spcPts val="0"/>
              </a:spcAft>
              <a:buClr>
                <a:schemeClr val="dk1"/>
              </a:buClr>
              <a:buSzPts val="2960"/>
              <a:buNone/>
            </a:pPr>
            <a:r>
              <a:t/>
            </a:r>
            <a:endParaRPr sz="1500">
              <a:latin typeface="Times New Roman"/>
              <a:ea typeface="Times New Roman"/>
              <a:cs typeface="Times New Roman"/>
              <a:sym typeface="Times New Roman"/>
            </a:endParaRPr>
          </a:p>
          <a:p>
            <a:pPr indent="0" lvl="0" marL="0" rtl="0" algn="l">
              <a:lnSpc>
                <a:spcPct val="80000"/>
              </a:lnSpc>
              <a:spcBef>
                <a:spcPts val="592"/>
              </a:spcBef>
              <a:spcAft>
                <a:spcPts val="0"/>
              </a:spcAft>
              <a:buClr>
                <a:schemeClr val="dk1"/>
              </a:buClr>
              <a:buSzPts val="2960"/>
              <a:buNone/>
            </a:pPr>
            <a:r>
              <a:t/>
            </a:r>
            <a:endParaRPr sz="1500">
              <a:latin typeface="Times New Roman"/>
              <a:ea typeface="Times New Roman"/>
              <a:cs typeface="Times New Roman"/>
              <a:sym typeface="Times New Roman"/>
            </a:endParaRPr>
          </a:p>
          <a:p>
            <a:pPr indent="0" lvl="0" marL="0" rtl="0" algn="l">
              <a:lnSpc>
                <a:spcPct val="80000"/>
              </a:lnSpc>
              <a:spcBef>
                <a:spcPts val="592"/>
              </a:spcBef>
              <a:spcAft>
                <a:spcPts val="0"/>
              </a:spcAft>
              <a:buClr>
                <a:schemeClr val="dk1"/>
              </a:buClr>
              <a:buSzPts val="2960"/>
              <a:buNone/>
            </a:pPr>
            <a:r>
              <a:t/>
            </a:r>
            <a:endParaRPr sz="1500"/>
          </a:p>
          <a:p>
            <a:pPr indent="-250190" lvl="0" marL="342900" rtl="0" algn="l">
              <a:lnSpc>
                <a:spcPct val="80000"/>
              </a:lnSpc>
              <a:spcBef>
                <a:spcPts val="592"/>
              </a:spcBef>
              <a:spcAft>
                <a:spcPts val="0"/>
              </a:spcAft>
              <a:buClr>
                <a:schemeClr val="dk1"/>
              </a:buClr>
              <a:buSzPts val="1500"/>
              <a:buChar char="▪"/>
            </a:pPr>
            <a:r>
              <a:t/>
            </a:r>
            <a:endParaRPr sz="1500"/>
          </a:p>
        </p:txBody>
      </p:sp>
      <p:pic>
        <p:nvPicPr>
          <p:cNvPr id="168" name="Google Shape;168;p11"/>
          <p:cNvPicPr preferRelativeResize="0"/>
          <p:nvPr/>
        </p:nvPicPr>
        <p:blipFill>
          <a:blip r:embed="rId4">
            <a:alphaModFix/>
          </a:blip>
          <a:stretch>
            <a:fillRect/>
          </a:stretch>
        </p:blipFill>
        <p:spPr>
          <a:xfrm>
            <a:off x="2120550" y="2688475"/>
            <a:ext cx="4496824" cy="31424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f52423cb84_0_33"/>
          <p:cNvSpPr txBox="1"/>
          <p:nvPr>
            <p:ph type="title"/>
          </p:nvPr>
        </p:nvSpPr>
        <p:spPr>
          <a:xfrm>
            <a:off x="0" y="284901"/>
            <a:ext cx="7743900" cy="410700"/>
          </a:xfrm>
          <a:prstGeom prst="rect">
            <a:avLst/>
          </a:prstGeom>
        </p:spPr>
        <p:txBody>
          <a:bodyPr anchorCtr="0" anchor="b" bIns="45700" lIns="91425" spcFirstLastPara="1" rIns="91425" wrap="square" tIns="45700">
            <a:normAutofit fontScale="90000"/>
          </a:bodyPr>
          <a:lstStyle/>
          <a:p>
            <a:pPr indent="0" lvl="0" marL="0" rtl="0" algn="l">
              <a:spcBef>
                <a:spcPts val="0"/>
              </a:spcBef>
              <a:spcAft>
                <a:spcPts val="0"/>
              </a:spcAft>
              <a:buNone/>
            </a:pPr>
            <a:r>
              <a:rPr lang="en-US"/>
              <a:t>Contd..</a:t>
            </a:r>
            <a:endParaRPr/>
          </a:p>
        </p:txBody>
      </p:sp>
      <p:pic>
        <p:nvPicPr>
          <p:cNvPr id="174" name="Google Shape;174;g3f52423cb84_0_33"/>
          <p:cNvPicPr preferRelativeResize="0"/>
          <p:nvPr/>
        </p:nvPicPr>
        <p:blipFill>
          <a:blip r:embed="rId3">
            <a:alphaModFix/>
          </a:blip>
          <a:stretch>
            <a:fillRect/>
          </a:stretch>
        </p:blipFill>
        <p:spPr>
          <a:xfrm>
            <a:off x="229175" y="727550"/>
            <a:ext cx="2753200" cy="2369725"/>
          </a:xfrm>
          <a:prstGeom prst="rect">
            <a:avLst/>
          </a:prstGeom>
          <a:noFill/>
          <a:ln>
            <a:noFill/>
          </a:ln>
        </p:spPr>
      </p:pic>
      <p:pic>
        <p:nvPicPr>
          <p:cNvPr id="175" name="Google Shape;175;g3f52423cb84_0_33"/>
          <p:cNvPicPr preferRelativeResize="0"/>
          <p:nvPr/>
        </p:nvPicPr>
        <p:blipFill>
          <a:blip r:embed="rId4">
            <a:alphaModFix/>
          </a:blip>
          <a:stretch>
            <a:fillRect/>
          </a:stretch>
        </p:blipFill>
        <p:spPr>
          <a:xfrm>
            <a:off x="3387825" y="695598"/>
            <a:ext cx="2301425" cy="2433625"/>
          </a:xfrm>
          <a:prstGeom prst="rect">
            <a:avLst/>
          </a:prstGeom>
          <a:noFill/>
          <a:ln>
            <a:noFill/>
          </a:ln>
        </p:spPr>
      </p:pic>
      <p:pic>
        <p:nvPicPr>
          <p:cNvPr id="176" name="Google Shape;176;g3f52423cb84_0_33"/>
          <p:cNvPicPr preferRelativeResize="0"/>
          <p:nvPr/>
        </p:nvPicPr>
        <p:blipFill>
          <a:blip r:embed="rId5">
            <a:alphaModFix/>
          </a:blip>
          <a:stretch>
            <a:fillRect/>
          </a:stretch>
        </p:blipFill>
        <p:spPr>
          <a:xfrm>
            <a:off x="6248200" y="732913"/>
            <a:ext cx="2355500" cy="2315912"/>
          </a:xfrm>
          <a:prstGeom prst="rect">
            <a:avLst/>
          </a:prstGeom>
          <a:noFill/>
          <a:ln>
            <a:noFill/>
          </a:ln>
        </p:spPr>
      </p:pic>
      <p:sp>
        <p:nvSpPr>
          <p:cNvPr id="177" name="Google Shape;177;g3f52423cb84_0_33"/>
          <p:cNvSpPr txBox="1"/>
          <p:nvPr/>
        </p:nvSpPr>
        <p:spPr>
          <a:xfrm>
            <a:off x="105775" y="3329550"/>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500">
                <a:solidFill>
                  <a:srgbClr val="21242C"/>
                </a:solidFill>
                <a:highlight>
                  <a:srgbClr val="FFFFFF"/>
                </a:highlight>
              </a:rPr>
              <a:t>Tiny step size converges slowly.</a:t>
            </a:r>
            <a:r>
              <a:rPr lang="en-US" sz="1100">
                <a:solidFill>
                  <a:schemeClr val="dk1"/>
                </a:solidFill>
              </a:rPr>
              <a:t> </a:t>
            </a:r>
            <a:endParaRPr/>
          </a:p>
        </p:txBody>
      </p:sp>
      <p:sp>
        <p:nvSpPr>
          <p:cNvPr id="178" name="Google Shape;178;g3f52423cb84_0_33"/>
          <p:cNvSpPr txBox="1"/>
          <p:nvPr/>
        </p:nvSpPr>
        <p:spPr>
          <a:xfrm>
            <a:off x="105775" y="3847850"/>
            <a:ext cx="30000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21242C"/>
                </a:solidFill>
                <a:highlight>
                  <a:srgbClr val="FFFFFF"/>
                </a:highlight>
                <a:latin typeface="Times New Roman"/>
                <a:ea typeface="Times New Roman"/>
                <a:cs typeface="Times New Roman"/>
                <a:sym typeface="Times New Roman"/>
              </a:rPr>
              <a:t>If the step size is too small, then we'll be more likely to converge, but we'll take far more steps than were necessary. This is a problem when the function we're minimizing has thousands or millions of variables, and evaluating it is cumbersome.</a:t>
            </a:r>
            <a:r>
              <a:rPr lang="en-US" sz="1100">
                <a:solidFill>
                  <a:schemeClr val="dk1"/>
                </a:solidFill>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179" name="Google Shape;179;g3f52423cb84_0_33"/>
          <p:cNvSpPr txBox="1"/>
          <p:nvPr/>
        </p:nvSpPr>
        <p:spPr>
          <a:xfrm>
            <a:off x="6718600" y="3329550"/>
            <a:ext cx="2207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500">
                <a:solidFill>
                  <a:srgbClr val="21242C"/>
                </a:solidFill>
                <a:highlight>
                  <a:srgbClr val="FFFFFF"/>
                </a:highlight>
              </a:rPr>
              <a:t>Large step size converges slowly.</a:t>
            </a:r>
            <a:r>
              <a:rPr lang="en-US" sz="1100">
                <a:solidFill>
                  <a:schemeClr val="dk1"/>
                </a:solidFill>
              </a:rPr>
              <a:t> </a:t>
            </a:r>
            <a:endParaRPr/>
          </a:p>
        </p:txBody>
      </p:sp>
      <p:sp>
        <p:nvSpPr>
          <p:cNvPr id="180" name="Google Shape;180;g3f52423cb84_0_33"/>
          <p:cNvSpPr txBox="1"/>
          <p:nvPr/>
        </p:nvSpPr>
        <p:spPr>
          <a:xfrm>
            <a:off x="6580525" y="4206850"/>
            <a:ext cx="25041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rgbClr val="21242C"/>
                </a:solidFill>
                <a:highlight>
                  <a:srgbClr val="FFFFFF"/>
                </a:highlight>
                <a:latin typeface="Times New Roman"/>
                <a:ea typeface="Times New Roman"/>
                <a:cs typeface="Times New Roman"/>
                <a:sym typeface="Times New Roman"/>
              </a:rPr>
              <a:t>If the step size is too large, however, we may never converge to a local minimum because we overshoot it every time.</a:t>
            </a:r>
            <a:r>
              <a:rPr lang="en-US" sz="1600">
                <a:solidFill>
                  <a:schemeClr val="dk1"/>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sp>
        <p:nvSpPr>
          <p:cNvPr id="181" name="Google Shape;181;g3f52423cb84_0_33"/>
          <p:cNvSpPr txBox="1"/>
          <p:nvPr/>
        </p:nvSpPr>
        <p:spPr>
          <a:xfrm>
            <a:off x="3295525" y="332955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500">
                <a:solidFill>
                  <a:srgbClr val="21242C"/>
                </a:solidFill>
                <a:highlight>
                  <a:srgbClr val="FFFFFF"/>
                </a:highlight>
              </a:rPr>
              <a:t>Good step size converges quickly.</a:t>
            </a:r>
            <a:r>
              <a:rPr lang="en-US" sz="1100">
                <a:solidFill>
                  <a:schemeClr val="dk1"/>
                </a:solidFill>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f52423cb84_0_23"/>
          <p:cNvSpPr txBox="1"/>
          <p:nvPr>
            <p:ph type="title"/>
          </p:nvPr>
        </p:nvSpPr>
        <p:spPr>
          <a:xfrm>
            <a:off x="164375" y="725950"/>
            <a:ext cx="8625300" cy="7047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SzPts val="990"/>
              <a:buNone/>
            </a:pPr>
            <a:r>
              <a:rPr b="0" lang="en-US" sz="1550">
                <a:solidFill>
                  <a:srgbClr val="21242C"/>
                </a:solidFill>
                <a:highlight>
                  <a:srgbClr val="FFFFFF"/>
                </a:highlight>
                <a:latin typeface="Times New Roman"/>
                <a:ea typeface="Times New Roman"/>
                <a:cs typeface="Times New Roman"/>
                <a:sym typeface="Times New Roman"/>
              </a:rPr>
              <a:t>A final limitation is that gradient descent only works when our function is differentiable everywhere. Otherwise we might come to a point where the gradient isn't defined, and then we can't use our update formula.</a:t>
            </a:r>
            <a:r>
              <a:rPr b="0" lang="en-US" sz="1190">
                <a:solidFill>
                  <a:schemeClr val="dk1"/>
                </a:solidFill>
                <a:latin typeface="Times New Roman"/>
                <a:ea typeface="Times New Roman"/>
                <a:cs typeface="Times New Roman"/>
                <a:sym typeface="Times New Roman"/>
              </a:rPr>
              <a:t> </a:t>
            </a:r>
            <a:endParaRPr sz="3080">
              <a:latin typeface="Times New Roman"/>
              <a:ea typeface="Times New Roman"/>
              <a:cs typeface="Times New Roman"/>
              <a:sym typeface="Times New Roman"/>
            </a:endParaRPr>
          </a:p>
        </p:txBody>
      </p:sp>
      <p:pic>
        <p:nvPicPr>
          <p:cNvPr id="187" name="Google Shape;187;g3f52423cb84_0_23"/>
          <p:cNvPicPr preferRelativeResize="0"/>
          <p:nvPr/>
        </p:nvPicPr>
        <p:blipFill>
          <a:blip r:embed="rId3">
            <a:alphaModFix/>
          </a:blip>
          <a:stretch>
            <a:fillRect/>
          </a:stretch>
        </p:blipFill>
        <p:spPr>
          <a:xfrm>
            <a:off x="613301" y="1686001"/>
            <a:ext cx="3629050" cy="3667600"/>
          </a:xfrm>
          <a:prstGeom prst="rect">
            <a:avLst/>
          </a:prstGeom>
          <a:noFill/>
          <a:ln>
            <a:noFill/>
          </a:ln>
        </p:spPr>
      </p:pic>
      <p:sp>
        <p:nvSpPr>
          <p:cNvPr id="188" name="Google Shape;188;g3f52423cb84_0_23"/>
          <p:cNvSpPr txBox="1"/>
          <p:nvPr/>
        </p:nvSpPr>
        <p:spPr>
          <a:xfrm>
            <a:off x="4906450" y="451985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500">
                <a:solidFill>
                  <a:srgbClr val="21242C"/>
                </a:solidFill>
                <a:highlight>
                  <a:srgbClr val="FFFFFF"/>
                </a:highlight>
              </a:rPr>
              <a:t>Gradient descent fails for non-differentiable functions.</a:t>
            </a:r>
            <a:r>
              <a:rPr lang="en-US" sz="1100">
                <a:solidFill>
                  <a:schemeClr val="dk1"/>
                </a:solidFill>
              </a:rP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f52423cb84_0_7"/>
          <p:cNvSpPr txBox="1"/>
          <p:nvPr>
            <p:ph type="title"/>
          </p:nvPr>
        </p:nvSpPr>
        <p:spPr>
          <a:xfrm>
            <a:off x="77225" y="293550"/>
            <a:ext cx="7743900" cy="759900"/>
          </a:xfrm>
          <a:prstGeom prst="rect">
            <a:avLst/>
          </a:prstGeom>
        </p:spPr>
        <p:txBody>
          <a:bodyPr anchorCtr="0" anchor="b" bIns="45700" lIns="91425" spcFirstLastPara="1" rIns="91425" wrap="square" tIns="45700">
            <a:normAutofit/>
          </a:bodyPr>
          <a:lstStyle/>
          <a:p>
            <a:pPr indent="0" lvl="0" marL="0" rtl="0" algn="l">
              <a:lnSpc>
                <a:spcPct val="80000"/>
              </a:lnSpc>
              <a:spcBef>
                <a:spcPts val="592"/>
              </a:spcBef>
              <a:spcAft>
                <a:spcPts val="0"/>
              </a:spcAft>
              <a:buNone/>
            </a:pPr>
            <a:r>
              <a:rPr b="0" lang="en-US" sz="1760">
                <a:solidFill>
                  <a:schemeClr val="dk1"/>
                </a:solidFill>
                <a:latin typeface="Times New Roman"/>
                <a:ea typeface="Times New Roman"/>
                <a:cs typeface="Times New Roman"/>
                <a:sym typeface="Times New Roman"/>
              </a:rPr>
              <a:t>2. Local Minima:</a:t>
            </a:r>
            <a:endParaRPr b="0" sz="1760">
              <a:solidFill>
                <a:schemeClr val="dk1"/>
              </a:solidFill>
            </a:endParaRPr>
          </a:p>
          <a:p>
            <a:pPr indent="0" lvl="0" marL="0" rtl="0" algn="l">
              <a:lnSpc>
                <a:spcPct val="80000"/>
              </a:lnSpc>
              <a:spcBef>
                <a:spcPts val="592"/>
              </a:spcBef>
              <a:spcAft>
                <a:spcPts val="0"/>
              </a:spcAft>
              <a:buClr>
                <a:schemeClr val="dk1"/>
              </a:buClr>
              <a:buSzPts val="2960"/>
              <a:buFont typeface="Arial"/>
              <a:buNone/>
            </a:pPr>
            <a:r>
              <a:rPr b="0" lang="en-US" sz="1760">
                <a:solidFill>
                  <a:schemeClr val="dk1"/>
                </a:solidFill>
                <a:latin typeface="Times New Roman"/>
                <a:ea typeface="Times New Roman"/>
                <a:cs typeface="Times New Roman"/>
                <a:sym typeface="Times New Roman"/>
              </a:rPr>
              <a:t>    - May get stuck in shallow dips.</a:t>
            </a:r>
            <a:endParaRPr/>
          </a:p>
        </p:txBody>
      </p:sp>
      <p:sp>
        <p:nvSpPr>
          <p:cNvPr id="194" name="Google Shape;194;g3f52423cb84_0_7"/>
          <p:cNvSpPr txBox="1"/>
          <p:nvPr/>
        </p:nvSpPr>
        <p:spPr>
          <a:xfrm>
            <a:off x="2482499" y="2163275"/>
            <a:ext cx="6622500" cy="908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700">
                <a:solidFill>
                  <a:srgbClr val="21242C"/>
                </a:solidFill>
                <a:highlight>
                  <a:srgbClr val="FFFFFF"/>
                </a:highlight>
                <a:latin typeface="Times New Roman"/>
                <a:ea typeface="Times New Roman"/>
                <a:cs typeface="Times New Roman"/>
                <a:sym typeface="Times New Roman"/>
              </a:rPr>
              <a:t>One </a:t>
            </a:r>
            <a:r>
              <a:rPr lang="en-US" sz="1500">
                <a:solidFill>
                  <a:srgbClr val="21242C"/>
                </a:solidFill>
                <a:highlight>
                  <a:srgbClr val="FFFFFF"/>
                </a:highlight>
                <a:latin typeface="Times New Roman"/>
                <a:ea typeface="Times New Roman"/>
                <a:cs typeface="Times New Roman"/>
                <a:sym typeface="Times New Roman"/>
              </a:rPr>
              <a:t>of its limitations is that it only finds </a:t>
            </a:r>
            <a:r>
              <a:rPr lang="en-US" sz="1500" u="sng">
                <a:solidFill>
                  <a:schemeClr val="hlink"/>
                </a:solidFill>
                <a:highlight>
                  <a:srgbClr val="FFFFFF"/>
                </a:highlight>
                <a:latin typeface="Times New Roman"/>
                <a:ea typeface="Times New Roman"/>
                <a:cs typeface="Times New Roman"/>
                <a:sym typeface="Times New Roman"/>
                <a:hlinkClick r:id="rId3"/>
              </a:rPr>
              <a:t>local minima</a:t>
            </a:r>
            <a:r>
              <a:rPr lang="en-US" sz="1500">
                <a:solidFill>
                  <a:srgbClr val="21242C"/>
                </a:solidFill>
                <a:highlight>
                  <a:srgbClr val="FFFFFF"/>
                </a:highlight>
                <a:latin typeface="Times New Roman"/>
                <a:ea typeface="Times New Roman"/>
                <a:cs typeface="Times New Roman"/>
                <a:sym typeface="Times New Roman"/>
              </a:rPr>
              <a:t> (rather than the global minimum). As soon as the algorithm finds some point that's at a local minimum, it will never escape as long as the step size doesn't exceed the size of the ditch.</a:t>
            </a:r>
            <a:r>
              <a:rPr lang="en-US" sz="1500">
                <a:solidFill>
                  <a:schemeClr val="dk1"/>
                </a:solidFill>
                <a:latin typeface="Times New Roman"/>
                <a:ea typeface="Times New Roman"/>
                <a:cs typeface="Times New Roman"/>
                <a:sym typeface="Times New Roman"/>
              </a:rPr>
              <a:t> </a:t>
            </a:r>
            <a:endParaRPr sz="1500">
              <a:latin typeface="Times New Roman"/>
              <a:ea typeface="Times New Roman"/>
              <a:cs typeface="Times New Roman"/>
              <a:sym typeface="Times New Roman"/>
            </a:endParaRPr>
          </a:p>
        </p:txBody>
      </p:sp>
      <p:pic>
        <p:nvPicPr>
          <p:cNvPr id="195" name="Google Shape;195;g3f52423cb84_0_7"/>
          <p:cNvPicPr preferRelativeResize="0"/>
          <p:nvPr/>
        </p:nvPicPr>
        <p:blipFill>
          <a:blip r:embed="rId4">
            <a:alphaModFix/>
          </a:blip>
          <a:stretch>
            <a:fillRect/>
          </a:stretch>
        </p:blipFill>
        <p:spPr>
          <a:xfrm>
            <a:off x="270525" y="1780025"/>
            <a:ext cx="1974250" cy="1426500"/>
          </a:xfrm>
          <a:prstGeom prst="rect">
            <a:avLst/>
          </a:prstGeom>
          <a:noFill/>
          <a:ln>
            <a:noFill/>
          </a:ln>
        </p:spPr>
      </p:pic>
      <p:pic>
        <p:nvPicPr>
          <p:cNvPr id="196" name="Google Shape;196;g3f52423cb84_0_7"/>
          <p:cNvPicPr preferRelativeResize="0"/>
          <p:nvPr/>
        </p:nvPicPr>
        <p:blipFill>
          <a:blip r:embed="rId5">
            <a:alphaModFix/>
          </a:blip>
          <a:stretch>
            <a:fillRect/>
          </a:stretch>
        </p:blipFill>
        <p:spPr>
          <a:xfrm>
            <a:off x="6174363" y="293550"/>
            <a:ext cx="2129713" cy="1575475"/>
          </a:xfrm>
          <a:prstGeom prst="rect">
            <a:avLst/>
          </a:prstGeom>
          <a:noFill/>
          <a:ln>
            <a:noFill/>
          </a:ln>
        </p:spPr>
      </p:pic>
      <p:pic>
        <p:nvPicPr>
          <p:cNvPr id="197" name="Google Shape;197;g3f52423cb84_0_7"/>
          <p:cNvPicPr preferRelativeResize="0"/>
          <p:nvPr/>
        </p:nvPicPr>
        <p:blipFill>
          <a:blip r:embed="rId6">
            <a:alphaModFix/>
          </a:blip>
          <a:stretch>
            <a:fillRect/>
          </a:stretch>
        </p:blipFill>
        <p:spPr>
          <a:xfrm>
            <a:off x="4268638" y="293538"/>
            <a:ext cx="1905734" cy="1575475"/>
          </a:xfrm>
          <a:prstGeom prst="rect">
            <a:avLst/>
          </a:prstGeom>
          <a:noFill/>
          <a:ln>
            <a:noFill/>
          </a:ln>
        </p:spPr>
      </p:pic>
      <p:sp>
        <p:nvSpPr>
          <p:cNvPr id="198" name="Google Shape;198;g3f52423cb84_0_7"/>
          <p:cNvSpPr txBox="1"/>
          <p:nvPr/>
        </p:nvSpPr>
        <p:spPr>
          <a:xfrm>
            <a:off x="292200" y="5817825"/>
            <a:ext cx="8559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rgbClr val="161616"/>
                </a:solidFill>
                <a:highlight>
                  <a:srgbClr val="FFFFFF"/>
                </a:highlight>
              </a:rPr>
              <a:t>For convex problems, gradient descent can find the global minimum with ease, but as nonconvex problems emerge, gradient descent can struggle to find the global minimum, where the model achieves the best results.</a:t>
            </a:r>
            <a:r>
              <a:rPr lang="en-US" sz="1100">
                <a:solidFill>
                  <a:schemeClr val="dk1"/>
                </a:solidFill>
              </a:rPr>
              <a:t> </a:t>
            </a:r>
            <a:endParaRPr/>
          </a:p>
        </p:txBody>
      </p:sp>
      <p:pic>
        <p:nvPicPr>
          <p:cNvPr id="199" name="Google Shape;199;g3f52423cb84_0_7"/>
          <p:cNvPicPr preferRelativeResize="0"/>
          <p:nvPr/>
        </p:nvPicPr>
        <p:blipFill>
          <a:blip r:embed="rId7">
            <a:alphaModFix/>
          </a:blip>
          <a:stretch>
            <a:fillRect/>
          </a:stretch>
        </p:blipFill>
        <p:spPr>
          <a:xfrm>
            <a:off x="292200" y="3658451"/>
            <a:ext cx="4534626" cy="1929225"/>
          </a:xfrm>
          <a:prstGeom prst="rect">
            <a:avLst/>
          </a:prstGeom>
          <a:noFill/>
          <a:ln>
            <a:noFill/>
          </a:ln>
        </p:spPr>
      </p:pic>
      <p:pic>
        <p:nvPicPr>
          <p:cNvPr id="200" name="Google Shape;200;g3f52423cb84_0_7"/>
          <p:cNvPicPr preferRelativeResize="0"/>
          <p:nvPr/>
        </p:nvPicPr>
        <p:blipFill>
          <a:blip r:embed="rId8">
            <a:alphaModFix/>
          </a:blip>
          <a:stretch>
            <a:fillRect/>
          </a:stretch>
        </p:blipFill>
        <p:spPr>
          <a:xfrm>
            <a:off x="5260876" y="3555150"/>
            <a:ext cx="3590925" cy="22193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f52423cb84_0_13"/>
          <p:cNvSpPr txBox="1"/>
          <p:nvPr/>
        </p:nvSpPr>
        <p:spPr>
          <a:xfrm>
            <a:off x="174900" y="423450"/>
            <a:ext cx="7896900" cy="942300"/>
          </a:xfrm>
          <a:prstGeom prst="rect">
            <a:avLst/>
          </a:prstGeom>
          <a:noFill/>
          <a:ln>
            <a:noFill/>
          </a:ln>
        </p:spPr>
        <p:txBody>
          <a:bodyPr anchorCtr="0" anchor="t" bIns="91425" lIns="91425" spcFirstLastPara="1" rIns="91425" wrap="square" tIns="91425">
            <a:spAutoFit/>
          </a:bodyPr>
          <a:lstStyle/>
          <a:p>
            <a:pPr indent="0" lvl="0" marL="457200" rtl="0" algn="l">
              <a:lnSpc>
                <a:spcPct val="80000"/>
              </a:lnSpc>
              <a:spcBef>
                <a:spcPts val="592"/>
              </a:spcBef>
              <a:spcAft>
                <a:spcPts val="0"/>
              </a:spcAft>
              <a:buNone/>
            </a:pPr>
            <a:r>
              <a:rPr b="1" lang="en-US" sz="1760">
                <a:solidFill>
                  <a:schemeClr val="dk1"/>
                </a:solidFill>
                <a:latin typeface="Times New Roman"/>
                <a:ea typeface="Times New Roman"/>
                <a:cs typeface="Times New Roman"/>
                <a:sym typeface="Times New Roman"/>
              </a:rPr>
              <a:t>3. Saddle Points:</a:t>
            </a:r>
            <a:endParaRPr b="1" sz="1760">
              <a:solidFill>
                <a:schemeClr val="dk1"/>
              </a:solidFill>
              <a:latin typeface="IBM Plex Sans Condensed"/>
              <a:ea typeface="IBM Plex Sans Condensed"/>
              <a:cs typeface="IBM Plex Sans Condensed"/>
              <a:sym typeface="IBM Plex Sans Condensed"/>
            </a:endParaRPr>
          </a:p>
          <a:p>
            <a:pPr indent="0" lvl="0" marL="0" rtl="0" algn="l">
              <a:lnSpc>
                <a:spcPct val="80000"/>
              </a:lnSpc>
              <a:spcBef>
                <a:spcPts val="592"/>
              </a:spcBef>
              <a:spcAft>
                <a:spcPts val="0"/>
              </a:spcAft>
              <a:buNone/>
            </a:pPr>
            <a:r>
              <a:rPr lang="en-US" sz="1760">
                <a:solidFill>
                  <a:schemeClr val="dk1"/>
                </a:solidFill>
                <a:latin typeface="Times New Roman"/>
                <a:ea typeface="Times New Roman"/>
                <a:cs typeface="Times New Roman"/>
                <a:sym typeface="Times New Roman"/>
              </a:rPr>
              <a:t>     - Flat regions can slow down progress.</a:t>
            </a:r>
            <a:endParaRPr sz="1760">
              <a:solidFill>
                <a:schemeClr val="dk1"/>
              </a:solidFill>
              <a:latin typeface="IBM Plex Sans Condensed"/>
              <a:ea typeface="IBM Plex Sans Condensed"/>
              <a:cs typeface="IBM Plex Sans Condensed"/>
              <a:sym typeface="IBM Plex Sans Condensed"/>
            </a:endParaRPr>
          </a:p>
          <a:p>
            <a:pPr indent="0" lvl="0" marL="457200" rtl="0" algn="l">
              <a:lnSpc>
                <a:spcPct val="80000"/>
              </a:lnSpc>
              <a:spcBef>
                <a:spcPts val="592"/>
              </a:spcBef>
              <a:spcAft>
                <a:spcPts val="0"/>
              </a:spcAft>
              <a:buNone/>
            </a:pPr>
            <a:r>
              <a:t/>
            </a:r>
            <a:endParaRPr/>
          </a:p>
        </p:txBody>
      </p:sp>
      <p:sp>
        <p:nvSpPr>
          <p:cNvPr id="206" name="Google Shape;206;g3f52423cb84_0_13"/>
          <p:cNvSpPr txBox="1"/>
          <p:nvPr/>
        </p:nvSpPr>
        <p:spPr>
          <a:xfrm>
            <a:off x="395850" y="1307175"/>
            <a:ext cx="8237400" cy="1185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300">
                <a:solidFill>
                  <a:srgbClr val="161616"/>
                </a:solidFill>
                <a:highlight>
                  <a:srgbClr val="FFFFFF"/>
                </a:highlight>
                <a:latin typeface="Times New Roman"/>
                <a:ea typeface="Times New Roman"/>
                <a:cs typeface="Times New Roman"/>
                <a:sym typeface="Times New Roman"/>
              </a:rPr>
              <a:t>W</a:t>
            </a:r>
            <a:r>
              <a:rPr lang="en-US" sz="1300">
                <a:solidFill>
                  <a:srgbClr val="161616"/>
                </a:solidFill>
                <a:highlight>
                  <a:srgbClr val="FFFFFF"/>
                </a:highlight>
                <a:latin typeface="Times New Roman"/>
                <a:ea typeface="Times New Roman"/>
                <a:cs typeface="Times New Roman"/>
                <a:sym typeface="Times New Roman"/>
              </a:rPr>
              <a:t>hen the slope of the cost function is at or close to zero, the model stops learning. A few scenarios beyond the global minimum can also yield this slope, which are local minima and saddle points. Local minima mimic the shape of a global minimum, where the slope of the cost function increases on either side of the current point. However, with saddle points, the negative gradient only exists on one side of the point, reaching a local maximum on one side and a local minimum on the other. Its name inspired by that of a horse’s saddle.</a:t>
            </a:r>
            <a:r>
              <a:rPr lang="en-US" sz="1300">
                <a:solidFill>
                  <a:schemeClr val="dk1"/>
                </a:solidFill>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p:txBody>
      </p:sp>
      <p:pic>
        <p:nvPicPr>
          <p:cNvPr id="207" name="Google Shape;207;g3f52423cb84_0_13"/>
          <p:cNvPicPr preferRelativeResize="0"/>
          <p:nvPr/>
        </p:nvPicPr>
        <p:blipFill>
          <a:blip r:embed="rId3">
            <a:alphaModFix/>
          </a:blip>
          <a:stretch>
            <a:fillRect/>
          </a:stretch>
        </p:blipFill>
        <p:spPr>
          <a:xfrm>
            <a:off x="1477700" y="2684975"/>
            <a:ext cx="5470599" cy="252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0"/>
          <p:cNvSpPr txBox="1"/>
          <p:nvPr>
            <p:ph type="title"/>
          </p:nvPr>
        </p:nvSpPr>
        <p:spPr>
          <a:xfrm>
            <a:off x="0" y="182603"/>
            <a:ext cx="8700729" cy="500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000"/>
              <a:buFont typeface="Times New Roman"/>
              <a:buNone/>
            </a:pPr>
            <a:r>
              <a:rPr b="1" lang="en-US" sz="2000" u="sng">
                <a:latin typeface="Times New Roman"/>
                <a:ea typeface="Times New Roman"/>
                <a:cs typeface="Times New Roman"/>
                <a:sym typeface="Times New Roman"/>
              </a:rPr>
              <a:t>Working Steps of Gradient Descent with respect to Linear Regression</a:t>
            </a:r>
            <a:endParaRPr b="1" sz="2000" u="sng">
              <a:latin typeface="Times New Roman"/>
              <a:ea typeface="Times New Roman"/>
              <a:cs typeface="Times New Roman"/>
              <a:sym typeface="Times New Roman"/>
            </a:endParaRPr>
          </a:p>
        </p:txBody>
      </p:sp>
      <p:sp>
        <p:nvSpPr>
          <p:cNvPr id="213" name="Google Shape;213;p10"/>
          <p:cNvSpPr txBox="1"/>
          <p:nvPr>
            <p:ph idx="1" type="body"/>
          </p:nvPr>
        </p:nvSpPr>
        <p:spPr>
          <a:xfrm>
            <a:off x="235550" y="682675"/>
            <a:ext cx="8644800" cy="5669100"/>
          </a:xfrm>
          <a:prstGeom prst="rect">
            <a:avLst/>
          </a:prstGeom>
          <a:blipFill rotWithShape="1">
            <a:blip r:embed="rId3">
              <a:alphaModFix/>
            </a:blip>
            <a:stretch>
              <a:fillRect b="0" l="-815" r="0" t="-645"/>
            </a:stretch>
          </a:blipFill>
          <a:ln>
            <a:noFill/>
          </a:ln>
        </p:spPr>
        <p:txBody>
          <a:bodyPr anchorCtr="0" anchor="t" bIns="45700" lIns="91425" spcFirstLastPara="1" rIns="91425" wrap="square" tIns="45700">
            <a:normAutofit/>
          </a:bodyPr>
          <a:lstStyle/>
          <a:p>
            <a:pPr indent="0" lvl="0" marL="457200" rtl="0" algn="l">
              <a:spcBef>
                <a:spcPts val="0"/>
              </a:spcBef>
              <a:spcAft>
                <a:spcPts val="0"/>
              </a:spcAft>
              <a:buNone/>
            </a:pPr>
            <a:r>
              <a:rPr lang="en-US"/>
              <a:t> </a:t>
            </a:r>
            <a:endParaRPr/>
          </a:p>
        </p:txBody>
      </p:sp>
      <p:pic>
        <p:nvPicPr>
          <p:cNvPr id="214" name="Google Shape;214;p10"/>
          <p:cNvPicPr preferRelativeResize="0"/>
          <p:nvPr/>
        </p:nvPicPr>
        <p:blipFill rotWithShape="1">
          <a:blip r:embed="rId4">
            <a:alphaModFix/>
          </a:blip>
          <a:srcRect b="0" l="0" r="0" t="0"/>
          <a:stretch/>
        </p:blipFill>
        <p:spPr>
          <a:xfrm>
            <a:off x="2678252" y="1737989"/>
            <a:ext cx="2829486" cy="629516"/>
          </a:xfrm>
          <a:prstGeom prst="rect">
            <a:avLst/>
          </a:prstGeom>
          <a:noFill/>
          <a:ln>
            <a:noFill/>
          </a:ln>
        </p:spPr>
      </p:pic>
      <p:pic>
        <p:nvPicPr>
          <p:cNvPr id="215" name="Google Shape;215;p10"/>
          <p:cNvPicPr preferRelativeResize="0"/>
          <p:nvPr/>
        </p:nvPicPr>
        <p:blipFill rotWithShape="1">
          <a:blip r:embed="rId5">
            <a:alphaModFix/>
          </a:blip>
          <a:srcRect b="0" l="0" r="0" t="0"/>
          <a:stretch/>
        </p:blipFill>
        <p:spPr>
          <a:xfrm>
            <a:off x="694585" y="2981858"/>
            <a:ext cx="3177815" cy="967825"/>
          </a:xfrm>
          <a:prstGeom prst="rect">
            <a:avLst/>
          </a:prstGeom>
          <a:noFill/>
          <a:ln>
            <a:noFill/>
          </a:ln>
        </p:spPr>
      </p:pic>
      <p:pic>
        <p:nvPicPr>
          <p:cNvPr id="216" name="Google Shape;216;p10"/>
          <p:cNvPicPr preferRelativeResize="0"/>
          <p:nvPr/>
        </p:nvPicPr>
        <p:blipFill rotWithShape="1">
          <a:blip r:embed="rId6">
            <a:alphaModFix/>
          </a:blip>
          <a:srcRect b="0" l="0" r="0" t="0"/>
          <a:stretch/>
        </p:blipFill>
        <p:spPr>
          <a:xfrm>
            <a:off x="4803075" y="2945078"/>
            <a:ext cx="2949196" cy="967824"/>
          </a:xfrm>
          <a:prstGeom prst="rect">
            <a:avLst/>
          </a:prstGeom>
          <a:noFill/>
          <a:ln>
            <a:noFill/>
          </a:ln>
        </p:spPr>
      </p:pic>
      <p:pic>
        <p:nvPicPr>
          <p:cNvPr id="217" name="Google Shape;217;p10"/>
          <p:cNvPicPr preferRelativeResize="0"/>
          <p:nvPr/>
        </p:nvPicPr>
        <p:blipFill rotWithShape="1">
          <a:blip r:embed="rId7">
            <a:alphaModFix/>
          </a:blip>
          <a:srcRect b="0" l="0" r="0" t="0"/>
          <a:stretch/>
        </p:blipFill>
        <p:spPr>
          <a:xfrm>
            <a:off x="1062300" y="4793621"/>
            <a:ext cx="1421171" cy="961648"/>
          </a:xfrm>
          <a:prstGeom prst="rect">
            <a:avLst/>
          </a:prstGeom>
          <a:noFill/>
          <a:ln>
            <a:noFill/>
          </a:ln>
        </p:spPr>
      </p:pic>
      <p:pic>
        <p:nvPicPr>
          <p:cNvPr id="218" name="Google Shape;218;p10"/>
          <p:cNvPicPr preferRelativeResize="0"/>
          <p:nvPr/>
        </p:nvPicPr>
        <p:blipFill rotWithShape="1">
          <a:blip r:embed="rId8">
            <a:alphaModFix/>
          </a:blip>
          <a:srcRect b="0" l="0" r="0" t="0"/>
          <a:stretch/>
        </p:blipFill>
        <p:spPr>
          <a:xfrm>
            <a:off x="4803075" y="4779399"/>
            <a:ext cx="1408623" cy="932706"/>
          </a:xfrm>
          <a:prstGeom prst="rect">
            <a:avLst/>
          </a:prstGeom>
          <a:noFill/>
          <a:ln>
            <a:noFill/>
          </a:ln>
        </p:spPr>
      </p:pic>
      <p:sp>
        <p:nvSpPr>
          <p:cNvPr id="219" name="Google Shape;219;p10"/>
          <p:cNvSpPr txBox="1"/>
          <p:nvPr/>
        </p:nvSpPr>
        <p:spPr>
          <a:xfrm>
            <a:off x="278171" y="5930174"/>
            <a:ext cx="8027629" cy="778483"/>
          </a:xfrm>
          <a:prstGeom prst="rect">
            <a:avLst/>
          </a:prstGeom>
          <a:blipFill rotWithShape="1">
            <a:blip r:embed="rId9">
              <a:alphaModFix/>
            </a:blip>
            <a:stretch>
              <a:fillRect b="-7031" l="-228"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latin typeface="Calibri"/>
                <a:ea typeface="Calibri"/>
                <a:cs typeface="Calibri"/>
                <a:sym typeface="Calibri"/>
              </a:rPr>
              <a:t> </a:t>
            </a: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12"/>
          <p:cNvPicPr preferRelativeResize="0"/>
          <p:nvPr/>
        </p:nvPicPr>
        <p:blipFill rotWithShape="1">
          <a:blip r:embed="rId3">
            <a:alphaModFix/>
          </a:blip>
          <a:srcRect b="0" l="0" r="0" t="0"/>
          <a:stretch/>
        </p:blipFill>
        <p:spPr>
          <a:xfrm>
            <a:off x="0" y="470700"/>
            <a:ext cx="5043851" cy="2750125"/>
          </a:xfrm>
          <a:prstGeom prst="rect">
            <a:avLst/>
          </a:prstGeom>
          <a:noFill/>
          <a:ln>
            <a:noFill/>
          </a:ln>
        </p:spPr>
      </p:pic>
      <p:pic>
        <p:nvPicPr>
          <p:cNvPr id="225" name="Google Shape;225;p12"/>
          <p:cNvPicPr preferRelativeResize="0"/>
          <p:nvPr/>
        </p:nvPicPr>
        <p:blipFill rotWithShape="1">
          <a:blip r:embed="rId4">
            <a:alphaModFix/>
          </a:blip>
          <a:srcRect b="0" l="0" r="0" t="0"/>
          <a:stretch/>
        </p:blipFill>
        <p:spPr>
          <a:xfrm>
            <a:off x="342051" y="3379400"/>
            <a:ext cx="4880226" cy="2660900"/>
          </a:xfrm>
          <a:prstGeom prst="rect">
            <a:avLst/>
          </a:prstGeom>
          <a:noFill/>
          <a:ln>
            <a:noFill/>
          </a:ln>
        </p:spPr>
      </p:pic>
      <p:pic>
        <p:nvPicPr>
          <p:cNvPr id="226" name="Google Shape;226;p12"/>
          <p:cNvPicPr preferRelativeResize="0"/>
          <p:nvPr/>
        </p:nvPicPr>
        <p:blipFill>
          <a:blip r:embed="rId5">
            <a:alphaModFix/>
          </a:blip>
          <a:stretch>
            <a:fillRect/>
          </a:stretch>
        </p:blipFill>
        <p:spPr>
          <a:xfrm>
            <a:off x="5521675" y="1174525"/>
            <a:ext cx="3358750" cy="2660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3"/>
          <p:cNvSpPr txBox="1"/>
          <p:nvPr>
            <p:ph type="title"/>
          </p:nvPr>
        </p:nvSpPr>
        <p:spPr>
          <a:xfrm>
            <a:off x="112644" y="2284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Types of Gradient Descent</a:t>
            </a:r>
            <a:endParaRPr/>
          </a:p>
        </p:txBody>
      </p:sp>
      <p:sp>
        <p:nvSpPr>
          <p:cNvPr id="232" name="Google Shape;232;p13"/>
          <p:cNvSpPr txBox="1"/>
          <p:nvPr>
            <p:ph idx="1" type="body"/>
          </p:nvPr>
        </p:nvSpPr>
        <p:spPr>
          <a:xfrm>
            <a:off x="112644" y="1348409"/>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latin typeface="Times New Roman"/>
                <a:ea typeface="Times New Roman"/>
                <a:cs typeface="Times New Roman"/>
                <a:sym typeface="Times New Roman"/>
              </a:rPr>
              <a:t>1. Batch Gradient Descent:</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 Uses the entire dataset to calculate the gradient.</a:t>
            </a:r>
            <a:endParaRPr sz="2400">
              <a:latin typeface="Times New Roman"/>
              <a:ea typeface="Times New Roman"/>
              <a:cs typeface="Times New Roman"/>
              <a:sym typeface="Times New Roman"/>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 Accurate but slow.</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2. Stochastic Gradient Descent (SGD):</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 Uses one data point at a time.</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 Faster but noisier.</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3. Mini-Batch Gradient Descent:</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 Uses a small group of data points.</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 Balances speed and stability.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txBox="1"/>
          <p:nvPr>
            <p:ph type="title"/>
          </p:nvPr>
        </p:nvSpPr>
        <p:spPr>
          <a:xfrm>
            <a:off x="457200" y="274638"/>
            <a:ext cx="8229600" cy="48073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37500"/>
              <a:buFont typeface="Times New Roman"/>
              <a:buNone/>
            </a:pPr>
            <a:r>
              <a:rPr lang="en-US">
                <a:latin typeface="Times New Roman"/>
                <a:ea typeface="Times New Roman"/>
                <a:cs typeface="Times New Roman"/>
                <a:sym typeface="Times New Roman"/>
              </a:rPr>
              <a:t>BATCH </a:t>
            </a:r>
            <a:r>
              <a:rPr lang="en-US">
                <a:latin typeface="Times New Roman"/>
                <a:ea typeface="Times New Roman"/>
                <a:cs typeface="Times New Roman"/>
                <a:sym typeface="Times New Roman"/>
              </a:rPr>
              <a:t>GRADIENT</a:t>
            </a:r>
            <a:r>
              <a:rPr lang="en-US">
                <a:latin typeface="Times New Roman"/>
                <a:ea typeface="Times New Roman"/>
                <a:cs typeface="Times New Roman"/>
                <a:sym typeface="Times New Roman"/>
              </a:rPr>
              <a:t> DESCENT</a:t>
            </a:r>
            <a:endParaRPr/>
          </a:p>
        </p:txBody>
      </p:sp>
      <p:sp>
        <p:nvSpPr>
          <p:cNvPr id="238" name="Google Shape;238;p14"/>
          <p:cNvSpPr txBox="1"/>
          <p:nvPr/>
        </p:nvSpPr>
        <p:spPr>
          <a:xfrm>
            <a:off x="152400" y="955152"/>
            <a:ext cx="88392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1. This is a type of gradient descent which processes all the training examples for each iteration of gradient descent. </a:t>
            </a:r>
            <a:endParaRPr/>
          </a:p>
          <a:p>
            <a:pPr indent="0" lvl="0" marL="0" marR="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2. But if the number of training examples is large, then batch gradient descent is computationally very expensive. </a:t>
            </a:r>
            <a:endParaRPr/>
          </a:p>
          <a:p>
            <a:pPr indent="0" lvl="0" marL="0" marR="0" rtl="0" algn="l">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 3. Hence if the number of training examples is large, then batch gradient descent is not preferred. Instead, we prefer to use stochastic gradient descent or mini-batch gradient descent</a:t>
            </a:r>
            <a:endParaRPr/>
          </a:p>
        </p:txBody>
      </p:sp>
      <p:pic>
        <p:nvPicPr>
          <p:cNvPr id="239" name="Google Shape;239;p14"/>
          <p:cNvPicPr preferRelativeResize="0"/>
          <p:nvPr/>
        </p:nvPicPr>
        <p:blipFill rotWithShape="1">
          <a:blip r:embed="rId3">
            <a:alphaModFix/>
          </a:blip>
          <a:srcRect b="0" l="0" r="0" t="0"/>
          <a:stretch/>
        </p:blipFill>
        <p:spPr>
          <a:xfrm>
            <a:off x="318075" y="3180474"/>
            <a:ext cx="3279875" cy="2648300"/>
          </a:xfrm>
          <a:prstGeom prst="rect">
            <a:avLst/>
          </a:prstGeom>
          <a:noFill/>
          <a:ln>
            <a:noFill/>
          </a:ln>
        </p:spPr>
      </p:pic>
      <p:pic>
        <p:nvPicPr>
          <p:cNvPr id="240" name="Google Shape;240;p14"/>
          <p:cNvPicPr preferRelativeResize="0"/>
          <p:nvPr/>
        </p:nvPicPr>
        <p:blipFill rotWithShape="1">
          <a:blip r:embed="rId4">
            <a:alphaModFix/>
          </a:blip>
          <a:srcRect b="44744" l="15890" r="18558" t="25976"/>
          <a:stretch/>
        </p:blipFill>
        <p:spPr>
          <a:xfrm>
            <a:off x="4049050" y="2959550"/>
            <a:ext cx="4878826" cy="1444524"/>
          </a:xfrm>
          <a:prstGeom prst="rect">
            <a:avLst/>
          </a:prstGeom>
          <a:noFill/>
          <a:ln>
            <a:noFill/>
          </a:ln>
        </p:spPr>
      </p:pic>
      <p:pic>
        <p:nvPicPr>
          <p:cNvPr id="241" name="Google Shape;241;p14"/>
          <p:cNvPicPr preferRelativeResize="0"/>
          <p:nvPr/>
        </p:nvPicPr>
        <p:blipFill rotWithShape="1">
          <a:blip r:embed="rId5">
            <a:alphaModFix/>
          </a:blip>
          <a:srcRect b="14878" l="17868" r="9998" t="36517"/>
          <a:stretch/>
        </p:blipFill>
        <p:spPr>
          <a:xfrm>
            <a:off x="4270275" y="4698500"/>
            <a:ext cx="3921202" cy="1486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type="title"/>
          </p:nvPr>
        </p:nvSpPr>
        <p:spPr>
          <a:xfrm>
            <a:off x="457200" y="274638"/>
            <a:ext cx="8229600" cy="573501"/>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37500"/>
              <a:buFont typeface="Times New Roman"/>
              <a:buNone/>
            </a:pPr>
            <a:r>
              <a:rPr lang="en-US">
                <a:latin typeface="Times New Roman"/>
                <a:ea typeface="Times New Roman"/>
                <a:cs typeface="Times New Roman"/>
                <a:sym typeface="Times New Roman"/>
              </a:rPr>
              <a:t>Stochastic Gradient Descent </a:t>
            </a:r>
            <a:endParaRPr/>
          </a:p>
        </p:txBody>
      </p:sp>
      <p:sp>
        <p:nvSpPr>
          <p:cNvPr id="247" name="Google Shape;247;p15"/>
          <p:cNvSpPr txBox="1"/>
          <p:nvPr/>
        </p:nvSpPr>
        <p:spPr>
          <a:xfrm>
            <a:off x="165100" y="1156975"/>
            <a:ext cx="9093200" cy="253556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 This is a type of gradient descent which processes 1 training example per iteration. </a:t>
            </a:r>
            <a:endParaRPr/>
          </a:p>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 Hence, the parameters are being updated even after one iteration in which only a single example has been processed. Hence this is quite faster than batch gradient descent. </a:t>
            </a:r>
            <a:endParaRPr/>
          </a:p>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 But again, when the number of training examples is large, even then it processes only one example which can be additional overhead for the system as the number of iterations will be quite large.</a:t>
            </a:r>
            <a:endParaRPr/>
          </a:p>
        </p:txBody>
      </p:sp>
      <p:sp>
        <p:nvSpPr>
          <p:cNvPr id="248" name="Google Shape;248;p15"/>
          <p:cNvSpPr txBox="1"/>
          <p:nvPr/>
        </p:nvSpPr>
        <p:spPr>
          <a:xfrm>
            <a:off x="165100" y="3692541"/>
            <a:ext cx="8521700" cy="15388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800"/>
              <a:buFont typeface="Times New Roman"/>
              <a:buNone/>
            </a:pPr>
            <a:r>
              <a:rPr b="1" i="0" lang="en-US" sz="1800" u="none" strike="noStrike">
                <a:solidFill>
                  <a:srgbClr val="000000"/>
                </a:solidFill>
                <a:latin typeface="Times New Roman"/>
                <a:ea typeface="Times New Roman"/>
                <a:cs typeface="Times New Roman"/>
                <a:sym typeface="Times New Roman"/>
              </a:rPr>
              <a:t>Stochastic Gradient Descent (SGD)</a:t>
            </a:r>
            <a:r>
              <a:rPr b="0" i="0" lang="en-US" sz="1600" u="none" strike="noStrike">
                <a:solidFill>
                  <a:srgbClr val="000000"/>
                </a:solidFill>
                <a:latin typeface="Times New Roman"/>
                <a:ea typeface="Times New Roman"/>
                <a:cs typeface="Times New Roman"/>
                <a:sym typeface="Times New Roman"/>
              </a:rPr>
              <a:t> is a variant of the gradient descent algorithm where the model parameters are updated using the gradient of the loss function with respect to a single training example at each iteration. </a:t>
            </a:r>
            <a:endParaRPr b="0" sz="11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100"/>
              <a:buFont typeface="Times New Roman"/>
              <a:buNone/>
            </a:pPr>
            <a:br>
              <a:rPr b="0" lang="en-US" sz="1100">
                <a:solidFill>
                  <a:schemeClr val="dk1"/>
                </a:solidFill>
                <a:latin typeface="Times New Roman"/>
                <a:ea typeface="Times New Roman"/>
                <a:cs typeface="Times New Roman"/>
                <a:sym typeface="Times New Roman"/>
              </a:rPr>
            </a:br>
            <a:endParaRPr b="0" sz="11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100"/>
              <a:buFont typeface="Times New Roman"/>
              <a:buNone/>
            </a:pPr>
            <a:br>
              <a:rPr lang="en-US"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p:txBody>
      </p:sp>
      <p:pic>
        <p:nvPicPr>
          <p:cNvPr id="249" name="Google Shape;249;p15"/>
          <p:cNvPicPr preferRelativeResize="0"/>
          <p:nvPr/>
        </p:nvPicPr>
        <p:blipFill rotWithShape="1">
          <a:blip r:embed="rId3">
            <a:alphaModFix/>
          </a:blip>
          <a:srcRect b="0" l="0" r="0" t="0"/>
          <a:stretch/>
        </p:blipFill>
        <p:spPr>
          <a:xfrm>
            <a:off x="165100" y="4758049"/>
            <a:ext cx="3771901" cy="1885951"/>
          </a:xfrm>
          <a:prstGeom prst="rect">
            <a:avLst/>
          </a:prstGeom>
          <a:noFill/>
          <a:ln>
            <a:noFill/>
          </a:ln>
        </p:spPr>
      </p:pic>
      <p:pic>
        <p:nvPicPr>
          <p:cNvPr id="250" name="Google Shape;250;p15"/>
          <p:cNvPicPr preferRelativeResize="0"/>
          <p:nvPr/>
        </p:nvPicPr>
        <p:blipFill rotWithShape="1">
          <a:blip r:embed="rId4">
            <a:alphaModFix/>
          </a:blip>
          <a:srcRect b="0" l="0" r="0" t="0"/>
          <a:stretch/>
        </p:blipFill>
        <p:spPr>
          <a:xfrm>
            <a:off x="4227539" y="4564033"/>
            <a:ext cx="4625741" cy="1836579"/>
          </a:xfrm>
          <a:prstGeom prst="rect">
            <a:avLst/>
          </a:prstGeom>
          <a:noFill/>
          <a:ln>
            <a:noFill/>
          </a:ln>
        </p:spPr>
      </p:pic>
      <p:pic>
        <p:nvPicPr>
          <p:cNvPr id="251" name="Google Shape;251;p15"/>
          <p:cNvPicPr preferRelativeResize="0"/>
          <p:nvPr/>
        </p:nvPicPr>
        <p:blipFill rotWithShape="1">
          <a:blip r:embed="rId5">
            <a:alphaModFix/>
          </a:blip>
          <a:srcRect b="0" l="0" r="0" t="0"/>
          <a:stretch/>
        </p:blipFill>
        <p:spPr>
          <a:xfrm>
            <a:off x="4646675" y="6450000"/>
            <a:ext cx="3787468" cy="26672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g3f52423cb84_0_217"/>
          <p:cNvPicPr preferRelativeResize="0"/>
          <p:nvPr/>
        </p:nvPicPr>
        <p:blipFill>
          <a:blip r:embed="rId3">
            <a:alphaModFix/>
          </a:blip>
          <a:stretch>
            <a:fillRect/>
          </a:stretch>
        </p:blipFill>
        <p:spPr>
          <a:xfrm>
            <a:off x="4950825" y="732650"/>
            <a:ext cx="3938700" cy="2505325"/>
          </a:xfrm>
          <a:prstGeom prst="rect">
            <a:avLst/>
          </a:prstGeom>
          <a:noFill/>
          <a:ln>
            <a:noFill/>
          </a:ln>
        </p:spPr>
      </p:pic>
      <p:pic>
        <p:nvPicPr>
          <p:cNvPr id="257" name="Google Shape;257;g3f52423cb84_0_217"/>
          <p:cNvPicPr preferRelativeResize="0"/>
          <p:nvPr/>
        </p:nvPicPr>
        <p:blipFill>
          <a:blip r:embed="rId4">
            <a:alphaModFix/>
          </a:blip>
          <a:stretch>
            <a:fillRect/>
          </a:stretch>
        </p:blipFill>
        <p:spPr>
          <a:xfrm>
            <a:off x="0" y="866700"/>
            <a:ext cx="4118000" cy="2237225"/>
          </a:xfrm>
          <a:prstGeom prst="rect">
            <a:avLst/>
          </a:prstGeom>
          <a:noFill/>
          <a:ln>
            <a:noFill/>
          </a:ln>
        </p:spPr>
      </p:pic>
      <p:pic>
        <p:nvPicPr>
          <p:cNvPr id="258" name="Google Shape;258;g3f52423cb84_0_217"/>
          <p:cNvPicPr preferRelativeResize="0"/>
          <p:nvPr/>
        </p:nvPicPr>
        <p:blipFill rotWithShape="1">
          <a:blip r:embed="rId5">
            <a:alphaModFix/>
          </a:blip>
          <a:srcRect b="0" l="0" r="0" t="6015"/>
          <a:stretch/>
        </p:blipFill>
        <p:spPr>
          <a:xfrm>
            <a:off x="114325" y="3778150"/>
            <a:ext cx="3495675" cy="2443875"/>
          </a:xfrm>
          <a:prstGeom prst="rect">
            <a:avLst/>
          </a:prstGeom>
          <a:noFill/>
          <a:ln>
            <a:noFill/>
          </a:ln>
        </p:spPr>
      </p:pic>
      <p:sp>
        <p:nvSpPr>
          <p:cNvPr id="259" name="Google Shape;259;g3f52423cb84_0_217"/>
          <p:cNvSpPr txBox="1"/>
          <p:nvPr/>
        </p:nvSpPr>
        <p:spPr>
          <a:xfrm>
            <a:off x="114325" y="289100"/>
            <a:ext cx="86754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latin typeface="Times New Roman"/>
                <a:ea typeface="Times New Roman"/>
                <a:cs typeface="Times New Roman"/>
                <a:sym typeface="Times New Roman"/>
              </a:rPr>
              <a:t>This issue can be </a:t>
            </a:r>
            <a:r>
              <a:rPr lang="en-US" sz="2200">
                <a:latin typeface="Times New Roman"/>
                <a:ea typeface="Times New Roman"/>
                <a:cs typeface="Times New Roman"/>
                <a:sym typeface="Times New Roman"/>
              </a:rPr>
              <a:t>solved</a:t>
            </a:r>
            <a:r>
              <a:rPr lang="en-US" sz="2200">
                <a:latin typeface="Times New Roman"/>
                <a:ea typeface="Times New Roman"/>
                <a:cs typeface="Times New Roman"/>
                <a:sym typeface="Times New Roman"/>
              </a:rPr>
              <a:t> through SDG (stochastic gradient descent)</a:t>
            </a:r>
            <a:endParaRPr sz="2200">
              <a:latin typeface="Times New Roman"/>
              <a:ea typeface="Times New Roman"/>
              <a:cs typeface="Times New Roman"/>
              <a:sym typeface="Times New Roman"/>
            </a:endParaRPr>
          </a:p>
        </p:txBody>
      </p:sp>
      <p:sp>
        <p:nvSpPr>
          <p:cNvPr id="260" name="Google Shape;260;g3f52423cb84_0_217"/>
          <p:cNvSpPr txBox="1"/>
          <p:nvPr/>
        </p:nvSpPr>
        <p:spPr>
          <a:xfrm>
            <a:off x="53900" y="3160288"/>
            <a:ext cx="7976400" cy="46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latin typeface="Times New Roman"/>
                <a:ea typeface="Times New Roman"/>
                <a:cs typeface="Times New Roman"/>
                <a:sym typeface="Times New Roman"/>
              </a:rPr>
              <a:t>What if not able to find global minima?? and stuck in this situation</a:t>
            </a:r>
            <a:endParaRPr sz="2200">
              <a:latin typeface="Times New Roman"/>
              <a:ea typeface="Times New Roman"/>
              <a:cs typeface="Times New Roman"/>
              <a:sym typeface="Times New Roman"/>
            </a:endParaRPr>
          </a:p>
        </p:txBody>
      </p:sp>
      <p:pic>
        <p:nvPicPr>
          <p:cNvPr id="261" name="Google Shape;261;g3f52423cb84_0_217"/>
          <p:cNvPicPr preferRelativeResize="0"/>
          <p:nvPr/>
        </p:nvPicPr>
        <p:blipFill>
          <a:blip r:embed="rId6">
            <a:alphaModFix/>
          </a:blip>
          <a:stretch>
            <a:fillRect/>
          </a:stretch>
        </p:blipFill>
        <p:spPr>
          <a:xfrm>
            <a:off x="6082150" y="3890699"/>
            <a:ext cx="2956200" cy="2280850"/>
          </a:xfrm>
          <a:prstGeom prst="rect">
            <a:avLst/>
          </a:prstGeom>
          <a:noFill/>
          <a:ln>
            <a:noFill/>
          </a:ln>
        </p:spPr>
      </p:pic>
      <p:sp>
        <p:nvSpPr>
          <p:cNvPr id="262" name="Google Shape;262;g3f52423cb84_0_217"/>
          <p:cNvSpPr txBox="1"/>
          <p:nvPr/>
        </p:nvSpPr>
        <p:spPr>
          <a:xfrm>
            <a:off x="3708450" y="3989875"/>
            <a:ext cx="2209200" cy="1951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1500">
                <a:latin typeface="IBM Plex Sans Condensed"/>
                <a:ea typeface="IBM Plex Sans Condensed"/>
                <a:cs typeface="IBM Plex Sans Condensed"/>
                <a:sym typeface="IBM Plex Sans Condensed"/>
              </a:rPr>
              <a:t>Can be resolved by taking large lR in starting and then small by doing this we added a learning schedule and thats why its is known as </a:t>
            </a:r>
            <a:r>
              <a:rPr lang="en-US" sz="1500">
                <a:latin typeface="IBM Plex Sans Condensed"/>
                <a:ea typeface="IBM Plex Sans Condensed"/>
                <a:cs typeface="IBM Plex Sans Condensed"/>
                <a:sym typeface="IBM Plex Sans Condensed"/>
              </a:rPr>
              <a:t>Stochastic</a:t>
            </a:r>
            <a:r>
              <a:rPr lang="en-US" sz="1500">
                <a:latin typeface="IBM Plex Sans Condensed"/>
                <a:ea typeface="IBM Plex Sans Condensed"/>
                <a:cs typeface="IBM Plex Sans Condensed"/>
                <a:sym typeface="IBM Plex Sans Condensed"/>
              </a:rPr>
              <a:t> Gradient </a:t>
            </a:r>
            <a:r>
              <a:rPr lang="en-US" sz="1500">
                <a:latin typeface="IBM Plex Sans Condensed"/>
                <a:ea typeface="IBM Plex Sans Condensed"/>
                <a:cs typeface="IBM Plex Sans Condensed"/>
                <a:sym typeface="IBM Plex Sans Condensed"/>
              </a:rPr>
              <a:t>descent</a:t>
            </a:r>
            <a:r>
              <a:rPr lang="en-US" sz="1500">
                <a:latin typeface="IBM Plex Sans Condensed"/>
                <a:ea typeface="IBM Plex Sans Condensed"/>
                <a:cs typeface="IBM Plex Sans Condensed"/>
                <a:sym typeface="IBM Plex Sans Condensed"/>
              </a:rPr>
              <a:t> with learning </a:t>
            </a:r>
            <a:r>
              <a:rPr lang="en-US" sz="1500">
                <a:latin typeface="IBM Plex Sans Condensed"/>
                <a:ea typeface="IBM Plex Sans Condensed"/>
                <a:cs typeface="IBM Plex Sans Condensed"/>
                <a:sym typeface="IBM Plex Sans Condensed"/>
              </a:rPr>
              <a:t>schedule</a:t>
            </a:r>
            <a:r>
              <a:rPr lang="en-US" sz="1500">
                <a:latin typeface="IBM Plex Sans Condensed"/>
                <a:ea typeface="IBM Plex Sans Condensed"/>
                <a:cs typeface="IBM Plex Sans Condensed"/>
                <a:sym typeface="IBM Plex Sans Condensed"/>
              </a:rPr>
              <a:t> </a:t>
            </a:r>
            <a:endParaRPr sz="1500">
              <a:latin typeface="IBM Plex Sans Condensed"/>
              <a:ea typeface="IBM Plex Sans Condensed"/>
              <a:cs typeface="IBM Plex Sans Condensed"/>
              <a:sym typeface="IBM Plex Sans Condense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6"/>
          <p:cNvSpPr txBox="1"/>
          <p:nvPr>
            <p:ph type="title"/>
          </p:nvPr>
        </p:nvSpPr>
        <p:spPr>
          <a:xfrm>
            <a:off x="457200" y="274638"/>
            <a:ext cx="8229600" cy="73252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Mini Batch Gradient Descent</a:t>
            </a:r>
            <a:endParaRPr/>
          </a:p>
        </p:txBody>
      </p:sp>
      <p:sp>
        <p:nvSpPr>
          <p:cNvPr id="268" name="Google Shape;268;p16"/>
          <p:cNvSpPr txBox="1"/>
          <p:nvPr/>
        </p:nvSpPr>
        <p:spPr>
          <a:xfrm>
            <a:off x="457200" y="1146774"/>
            <a:ext cx="8382000"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This is a type of gradient descent which works faster than both batch gradient descent and stochastic gradient descent.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Here B examples where b&lt;m are processed per iteration. So even if the number of training examples are large , it is processed in batches of B training examples in one go.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Thus, it works for larger training examples and that too with lesser number of iterations.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69" name="Google Shape;269;p16"/>
          <p:cNvPicPr preferRelativeResize="0"/>
          <p:nvPr/>
        </p:nvPicPr>
        <p:blipFill rotWithShape="1">
          <a:blip r:embed="rId3">
            <a:alphaModFix/>
          </a:blip>
          <a:srcRect b="0" l="0" r="0" t="0"/>
          <a:stretch/>
        </p:blipFill>
        <p:spPr>
          <a:xfrm>
            <a:off x="231723" y="3096783"/>
            <a:ext cx="3518659" cy="2599566"/>
          </a:xfrm>
          <a:prstGeom prst="rect">
            <a:avLst/>
          </a:prstGeom>
          <a:noFill/>
          <a:ln>
            <a:noFill/>
          </a:ln>
        </p:spPr>
      </p:pic>
      <p:pic>
        <p:nvPicPr>
          <p:cNvPr id="270" name="Google Shape;270;p16"/>
          <p:cNvPicPr preferRelativeResize="0"/>
          <p:nvPr/>
        </p:nvPicPr>
        <p:blipFill>
          <a:blip r:embed="rId4">
            <a:alphaModFix/>
          </a:blip>
          <a:stretch>
            <a:fillRect/>
          </a:stretch>
        </p:blipFill>
        <p:spPr>
          <a:xfrm>
            <a:off x="4455098" y="3330500"/>
            <a:ext cx="4076950" cy="22149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g3f52423cb84_0_124"/>
          <p:cNvPicPr preferRelativeResize="0"/>
          <p:nvPr/>
        </p:nvPicPr>
        <p:blipFill rotWithShape="1">
          <a:blip r:embed="rId3">
            <a:alphaModFix/>
          </a:blip>
          <a:srcRect b="12321" l="20470" r="28034" t="22693"/>
          <a:stretch/>
        </p:blipFill>
        <p:spPr>
          <a:xfrm>
            <a:off x="521975" y="315875"/>
            <a:ext cx="8509594" cy="60406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f52423cb84_0_75"/>
          <p:cNvSpPr txBox="1"/>
          <p:nvPr/>
        </p:nvSpPr>
        <p:spPr>
          <a:xfrm>
            <a:off x="65050" y="274525"/>
            <a:ext cx="7134300" cy="9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latin typeface="Times New Roman"/>
                <a:ea typeface="Times New Roman"/>
                <a:cs typeface="Times New Roman"/>
                <a:sym typeface="Times New Roman"/>
              </a:rPr>
              <a:t>Hyperparameters</a:t>
            </a:r>
            <a:endParaRPr b="1" sz="2800">
              <a:latin typeface="Times New Roman"/>
              <a:ea typeface="Times New Roman"/>
              <a:cs typeface="Times New Roman"/>
              <a:sym typeface="Times New Roman"/>
            </a:endParaRPr>
          </a:p>
        </p:txBody>
      </p:sp>
      <p:sp>
        <p:nvSpPr>
          <p:cNvPr id="281" name="Google Shape;281;g3f52423cb84_0_75"/>
          <p:cNvSpPr txBox="1"/>
          <p:nvPr/>
        </p:nvSpPr>
        <p:spPr>
          <a:xfrm>
            <a:off x="147300" y="902125"/>
            <a:ext cx="8706900" cy="1754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b="1" lang="en-US" sz="1200">
                <a:solidFill>
                  <a:schemeClr val="dk1"/>
                </a:solidFill>
                <a:highlight>
                  <a:schemeClr val="lt1"/>
                </a:highlight>
                <a:uFill>
                  <a:noFill/>
                </a:uFill>
                <a:latin typeface="Times New Roman"/>
                <a:ea typeface="Times New Roman"/>
                <a:cs typeface="Times New Roman"/>
                <a:sym typeface="Times New Roman"/>
                <a:hlinkClick r:id="rId3">
                  <a:extLst>
                    <a:ext uri="{A12FA001-AC4F-418D-AE19-62706E023703}">
                      <ahyp:hlinkClr val="tx"/>
                    </a:ext>
                  </a:extLst>
                </a:hlinkClick>
              </a:rPr>
              <a:t>Hyperparameters</a:t>
            </a:r>
            <a:r>
              <a:rPr lang="en-US" sz="1200">
                <a:solidFill>
                  <a:schemeClr val="dk1"/>
                </a:solidFill>
                <a:highlight>
                  <a:schemeClr val="lt1"/>
                </a:highlight>
                <a:latin typeface="Times New Roman"/>
                <a:ea typeface="Times New Roman"/>
                <a:cs typeface="Times New Roman"/>
                <a:sym typeface="Times New Roman"/>
              </a:rPr>
              <a:t> </a:t>
            </a:r>
            <a:r>
              <a:rPr lang="en-US" sz="1200">
                <a:solidFill>
                  <a:srgbClr val="202124"/>
                </a:solidFill>
                <a:highlight>
                  <a:schemeClr val="lt1"/>
                </a:highlight>
                <a:latin typeface="Times New Roman"/>
                <a:ea typeface="Times New Roman"/>
                <a:cs typeface="Times New Roman"/>
                <a:sym typeface="Times New Roman"/>
              </a:rPr>
              <a:t>are variables that control different aspects of training. Three common hyperparameters are:</a:t>
            </a:r>
            <a:endParaRPr sz="1200">
              <a:solidFill>
                <a:srgbClr val="202124"/>
              </a:solidFill>
              <a:highlight>
                <a:schemeClr val="lt1"/>
              </a:highlight>
              <a:latin typeface="Times New Roman"/>
              <a:ea typeface="Times New Roman"/>
              <a:cs typeface="Times New Roman"/>
              <a:sym typeface="Times New Roman"/>
            </a:endParaRPr>
          </a:p>
          <a:p>
            <a:pPr indent="-304800" lvl="0" marL="457200" rtl="0" algn="l">
              <a:lnSpc>
                <a:spcPct val="100000"/>
              </a:lnSpc>
              <a:spcBef>
                <a:spcPts val="1200"/>
              </a:spcBef>
              <a:spcAft>
                <a:spcPts val="0"/>
              </a:spcAft>
              <a:buClr>
                <a:schemeClr val="dk1"/>
              </a:buClr>
              <a:buSzPts val="1200"/>
              <a:buFont typeface="Times New Roman"/>
              <a:buChar char="●"/>
            </a:pPr>
            <a:r>
              <a:rPr b="1" lang="en-US" sz="1200">
                <a:solidFill>
                  <a:schemeClr val="dk1"/>
                </a:solidFill>
                <a:highlight>
                  <a:schemeClr val="lt1"/>
                </a:highlight>
                <a:uFill>
                  <a:noFill/>
                </a:uFill>
                <a:latin typeface="Times New Roman"/>
                <a:ea typeface="Times New Roman"/>
                <a:cs typeface="Times New Roman"/>
                <a:sym typeface="Times New Roman"/>
                <a:hlinkClick r:id="rId4">
                  <a:extLst>
                    <a:ext uri="{A12FA001-AC4F-418D-AE19-62706E023703}">
                      <ahyp:hlinkClr val="tx"/>
                    </a:ext>
                  </a:extLst>
                </a:hlinkClick>
              </a:rPr>
              <a:t>Learning rate</a:t>
            </a:r>
            <a:endParaRPr b="1" sz="1200">
              <a:solidFill>
                <a:schemeClr val="dk1"/>
              </a:solidFill>
              <a:highlight>
                <a:schemeClr val="lt1"/>
              </a:highlight>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b="1" lang="en-US" sz="1200">
                <a:solidFill>
                  <a:schemeClr val="dk1"/>
                </a:solidFill>
                <a:highlight>
                  <a:schemeClr val="lt1"/>
                </a:highlight>
                <a:uFill>
                  <a:noFill/>
                </a:uFill>
                <a:latin typeface="Times New Roman"/>
                <a:ea typeface="Times New Roman"/>
                <a:cs typeface="Times New Roman"/>
                <a:sym typeface="Times New Roman"/>
                <a:hlinkClick r:id="rId5">
                  <a:extLst>
                    <a:ext uri="{A12FA001-AC4F-418D-AE19-62706E023703}">
                      <ahyp:hlinkClr val="tx"/>
                    </a:ext>
                  </a:extLst>
                </a:hlinkClick>
              </a:rPr>
              <a:t>Batch size</a:t>
            </a:r>
            <a:endParaRPr b="1" sz="1200">
              <a:solidFill>
                <a:schemeClr val="dk1"/>
              </a:solidFill>
              <a:highlight>
                <a:schemeClr val="lt1"/>
              </a:highlight>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Char char="●"/>
            </a:pPr>
            <a:r>
              <a:rPr b="1" lang="en-US" sz="1200">
                <a:solidFill>
                  <a:schemeClr val="dk1"/>
                </a:solidFill>
                <a:highlight>
                  <a:schemeClr val="lt1"/>
                </a:highlight>
                <a:uFill>
                  <a:noFill/>
                </a:uFill>
                <a:latin typeface="Times New Roman"/>
                <a:ea typeface="Times New Roman"/>
                <a:cs typeface="Times New Roman"/>
                <a:sym typeface="Times New Roman"/>
                <a:hlinkClick r:id="rId6">
                  <a:extLst>
                    <a:ext uri="{A12FA001-AC4F-418D-AE19-62706E023703}">
                      <ahyp:hlinkClr val="tx"/>
                    </a:ext>
                  </a:extLst>
                </a:hlinkClick>
              </a:rPr>
              <a:t>Epochs</a:t>
            </a:r>
            <a:endParaRPr b="1" sz="1200">
              <a:solidFill>
                <a:schemeClr val="dk1"/>
              </a:solidFill>
              <a:highlight>
                <a:schemeClr val="lt1"/>
              </a:highlight>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US" sz="1200">
                <a:solidFill>
                  <a:schemeClr val="dk1"/>
                </a:solidFill>
                <a:highlight>
                  <a:schemeClr val="lt1"/>
                </a:highlight>
                <a:latin typeface="Times New Roman"/>
                <a:ea typeface="Times New Roman"/>
                <a:cs typeface="Times New Roman"/>
                <a:sym typeface="Times New Roman"/>
              </a:rPr>
              <a:t>In contrast, </a:t>
            </a:r>
            <a:r>
              <a:rPr b="1" lang="en-US" sz="1200">
                <a:solidFill>
                  <a:schemeClr val="dk1"/>
                </a:solidFill>
                <a:highlight>
                  <a:schemeClr val="lt1"/>
                </a:highlight>
                <a:uFill>
                  <a:noFill/>
                </a:uFill>
                <a:latin typeface="Times New Roman"/>
                <a:ea typeface="Times New Roman"/>
                <a:cs typeface="Times New Roman"/>
                <a:sym typeface="Times New Roman"/>
                <a:hlinkClick r:id="rId7">
                  <a:extLst>
                    <a:ext uri="{A12FA001-AC4F-418D-AE19-62706E023703}">
                      <ahyp:hlinkClr val="tx"/>
                    </a:ext>
                  </a:extLst>
                </a:hlinkClick>
              </a:rPr>
              <a:t>parameters</a:t>
            </a:r>
            <a:r>
              <a:rPr lang="en-US" sz="1200">
                <a:solidFill>
                  <a:srgbClr val="202124"/>
                </a:solidFill>
                <a:highlight>
                  <a:schemeClr val="lt1"/>
                </a:highlight>
                <a:latin typeface="Times New Roman"/>
                <a:ea typeface="Times New Roman"/>
                <a:cs typeface="Times New Roman"/>
                <a:sym typeface="Times New Roman"/>
              </a:rPr>
              <a:t> are the variables, like the weights and bias, that are part of the model itself. </a:t>
            </a:r>
            <a:endParaRPr sz="1200">
              <a:solidFill>
                <a:srgbClr val="202124"/>
              </a:solidFill>
              <a:highlight>
                <a:schemeClr val="lt1"/>
              </a:highlight>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rPr lang="en-US" sz="1200">
                <a:solidFill>
                  <a:srgbClr val="202124"/>
                </a:solidFill>
                <a:highlight>
                  <a:schemeClr val="lt1"/>
                </a:highlight>
                <a:latin typeface="Times New Roman"/>
                <a:ea typeface="Times New Roman"/>
                <a:cs typeface="Times New Roman"/>
                <a:sym typeface="Times New Roman"/>
              </a:rPr>
              <a:t>In other words, hyperparameters are values that you control; parameters are values that the model calculates during training.</a:t>
            </a:r>
            <a:endParaRPr sz="1200">
              <a:solidFill>
                <a:srgbClr val="202124"/>
              </a:solidFill>
              <a:highlight>
                <a:schemeClr val="lt1"/>
              </a:highlight>
              <a:latin typeface="Times New Roman"/>
              <a:ea typeface="Times New Roman"/>
              <a:cs typeface="Times New Roman"/>
              <a:sym typeface="Times New Roman"/>
            </a:endParaRPr>
          </a:p>
        </p:txBody>
      </p:sp>
      <p:pic>
        <p:nvPicPr>
          <p:cNvPr id="282" name="Google Shape;282;g3f52423cb84_0_75"/>
          <p:cNvPicPr preferRelativeResize="0"/>
          <p:nvPr/>
        </p:nvPicPr>
        <p:blipFill>
          <a:blip r:embed="rId8">
            <a:alphaModFix/>
          </a:blip>
          <a:stretch>
            <a:fillRect/>
          </a:stretch>
        </p:blipFill>
        <p:spPr>
          <a:xfrm>
            <a:off x="2157375" y="2756350"/>
            <a:ext cx="5813149" cy="3498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f52423cb84_0_106"/>
          <p:cNvSpPr txBox="1"/>
          <p:nvPr/>
        </p:nvSpPr>
        <p:spPr>
          <a:xfrm>
            <a:off x="0" y="460275"/>
            <a:ext cx="9047700" cy="19734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3600"/>
              </a:spcBef>
              <a:spcAft>
                <a:spcPts val="0"/>
              </a:spcAft>
              <a:buNone/>
            </a:pPr>
            <a:r>
              <a:rPr b="1" lang="en-US" sz="1800">
                <a:solidFill>
                  <a:schemeClr val="dk1"/>
                </a:solidFill>
                <a:highlight>
                  <a:srgbClr val="FFFFFF"/>
                </a:highlight>
                <a:latin typeface="Times New Roman"/>
                <a:ea typeface="Times New Roman"/>
                <a:cs typeface="Times New Roman"/>
                <a:sym typeface="Times New Roman"/>
              </a:rPr>
              <a:t>Batch size</a:t>
            </a:r>
            <a:endParaRPr b="1" sz="18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US" sz="1200">
                <a:solidFill>
                  <a:schemeClr val="dk1"/>
                </a:solidFill>
                <a:highlight>
                  <a:srgbClr val="FFFFFF"/>
                </a:highlight>
                <a:uFill>
                  <a:noFill/>
                </a:uFill>
                <a:latin typeface="Times New Roman"/>
                <a:ea typeface="Times New Roman"/>
                <a:cs typeface="Times New Roman"/>
                <a:sym typeface="Times New Roman"/>
                <a:hlinkClick r:id="rId3">
                  <a:extLst>
                    <a:ext uri="{A12FA001-AC4F-418D-AE19-62706E023703}">
                      <ahyp:hlinkClr val="tx"/>
                    </a:ext>
                  </a:extLst>
                </a:hlinkClick>
              </a:rPr>
              <a:t>Batch size</a:t>
            </a:r>
            <a:r>
              <a:rPr lang="en-US" sz="1200">
                <a:solidFill>
                  <a:schemeClr val="dk1"/>
                </a:solidFill>
                <a:highlight>
                  <a:srgbClr val="FFFFFF"/>
                </a:highlight>
                <a:latin typeface="Times New Roman"/>
                <a:ea typeface="Times New Roman"/>
                <a:cs typeface="Times New Roman"/>
                <a:sym typeface="Times New Roman"/>
              </a:rPr>
              <a:t> is a hyperparameter that refers to the number of </a:t>
            </a:r>
            <a:r>
              <a:rPr b="1" lang="en-US" sz="1200">
                <a:solidFill>
                  <a:schemeClr val="dk1"/>
                </a:solidFill>
                <a:highlight>
                  <a:srgbClr val="FFFFFF"/>
                </a:highlight>
                <a:uFill>
                  <a:noFill/>
                </a:uFill>
                <a:latin typeface="Times New Roman"/>
                <a:ea typeface="Times New Roman"/>
                <a:cs typeface="Times New Roman"/>
                <a:sym typeface="Times New Roman"/>
                <a:hlinkClick r:id="rId4">
                  <a:extLst>
                    <a:ext uri="{A12FA001-AC4F-418D-AE19-62706E023703}">
                      <ahyp:hlinkClr val="tx"/>
                    </a:ext>
                  </a:extLst>
                </a:hlinkClick>
              </a:rPr>
              <a:t>examples</a:t>
            </a:r>
            <a:r>
              <a:rPr lang="en-US" sz="1200">
                <a:solidFill>
                  <a:schemeClr val="dk1"/>
                </a:solidFill>
                <a:highlight>
                  <a:srgbClr val="FFFFFF"/>
                </a:highlight>
                <a:latin typeface="Times New Roman"/>
                <a:ea typeface="Times New Roman"/>
                <a:cs typeface="Times New Roman"/>
                <a:sym typeface="Times New Roman"/>
              </a:rPr>
              <a:t> the model processes before updating its weights and bias. You might think that the model should calculate the loss for </a:t>
            </a:r>
            <a:r>
              <a:rPr i="1" lang="en-US" sz="1200">
                <a:solidFill>
                  <a:schemeClr val="dk1"/>
                </a:solidFill>
                <a:highlight>
                  <a:srgbClr val="FFFFFF"/>
                </a:highlight>
                <a:latin typeface="Times New Roman"/>
                <a:ea typeface="Times New Roman"/>
                <a:cs typeface="Times New Roman"/>
                <a:sym typeface="Times New Roman"/>
              </a:rPr>
              <a:t>every</a:t>
            </a:r>
            <a:r>
              <a:rPr lang="en-US" sz="1200">
                <a:solidFill>
                  <a:schemeClr val="dk1"/>
                </a:solidFill>
                <a:highlight>
                  <a:srgbClr val="FFFFFF"/>
                </a:highlight>
                <a:latin typeface="Times New Roman"/>
                <a:ea typeface="Times New Roman"/>
                <a:cs typeface="Times New Roman"/>
                <a:sym typeface="Times New Roman"/>
              </a:rPr>
              <a:t> example in the dataset before updating the weights and bias. However, when a dataset contains hundreds of thousands or even millions of examples, using the full batch isn't practical.</a:t>
            </a:r>
            <a:endParaRPr sz="12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sz="1200">
                <a:solidFill>
                  <a:schemeClr val="dk1"/>
                </a:solidFill>
                <a:highlight>
                  <a:srgbClr val="FFFFFF"/>
                </a:highlight>
                <a:latin typeface="Times New Roman"/>
                <a:ea typeface="Times New Roman"/>
                <a:cs typeface="Times New Roman"/>
                <a:sym typeface="Times New Roman"/>
              </a:rPr>
              <a:t>Two common techniques to get the right gradient on </a:t>
            </a:r>
            <a:r>
              <a:rPr i="1" lang="en-US" sz="1200">
                <a:solidFill>
                  <a:schemeClr val="dk1"/>
                </a:solidFill>
                <a:highlight>
                  <a:srgbClr val="FFFFFF"/>
                </a:highlight>
                <a:latin typeface="Times New Roman"/>
                <a:ea typeface="Times New Roman"/>
                <a:cs typeface="Times New Roman"/>
                <a:sym typeface="Times New Roman"/>
              </a:rPr>
              <a:t>average</a:t>
            </a:r>
            <a:r>
              <a:rPr lang="en-US" sz="1200">
                <a:solidFill>
                  <a:schemeClr val="dk1"/>
                </a:solidFill>
                <a:highlight>
                  <a:srgbClr val="FFFFFF"/>
                </a:highlight>
                <a:latin typeface="Times New Roman"/>
                <a:ea typeface="Times New Roman"/>
                <a:cs typeface="Times New Roman"/>
                <a:sym typeface="Times New Roman"/>
              </a:rPr>
              <a:t> without needing to look at every example in the dataset before updating the weights and bias are </a:t>
            </a:r>
            <a:r>
              <a:rPr b="1" lang="en-US" sz="1200">
                <a:solidFill>
                  <a:schemeClr val="dk1"/>
                </a:solidFill>
                <a:highlight>
                  <a:srgbClr val="FFFFFF"/>
                </a:highlight>
                <a:uFill>
                  <a:noFill/>
                </a:uFill>
                <a:latin typeface="Times New Roman"/>
                <a:ea typeface="Times New Roman"/>
                <a:cs typeface="Times New Roman"/>
                <a:sym typeface="Times New Roman"/>
                <a:hlinkClick r:id="rId5">
                  <a:extLst>
                    <a:ext uri="{A12FA001-AC4F-418D-AE19-62706E023703}">
                      <ahyp:hlinkClr val="tx"/>
                    </a:ext>
                  </a:extLst>
                </a:hlinkClick>
              </a:rPr>
              <a:t>stochastic gradient descent</a:t>
            </a:r>
            <a:r>
              <a:rPr lang="en-US" sz="1200">
                <a:solidFill>
                  <a:schemeClr val="dk1"/>
                </a:solidFill>
                <a:highlight>
                  <a:srgbClr val="FFFFFF"/>
                </a:highlight>
                <a:latin typeface="Times New Roman"/>
                <a:ea typeface="Times New Roman"/>
                <a:cs typeface="Times New Roman"/>
                <a:sym typeface="Times New Roman"/>
              </a:rPr>
              <a:t> and </a:t>
            </a:r>
            <a:r>
              <a:rPr b="1" lang="en-US" sz="1200">
                <a:solidFill>
                  <a:schemeClr val="dk1"/>
                </a:solidFill>
                <a:highlight>
                  <a:srgbClr val="FFFFFF"/>
                </a:highlight>
                <a:uFill>
                  <a:noFill/>
                </a:uFill>
                <a:latin typeface="Times New Roman"/>
                <a:ea typeface="Times New Roman"/>
                <a:cs typeface="Times New Roman"/>
                <a:sym typeface="Times New Roman"/>
                <a:hlinkClick r:id="rId6">
                  <a:extLst>
                    <a:ext uri="{A12FA001-AC4F-418D-AE19-62706E023703}">
                      <ahyp:hlinkClr val="tx"/>
                    </a:ext>
                  </a:extLst>
                </a:hlinkClick>
              </a:rPr>
              <a:t>mini-batch stochastic gradient descent</a:t>
            </a:r>
            <a:r>
              <a:rPr lang="en-US" sz="1200">
                <a:solidFill>
                  <a:schemeClr val="dk1"/>
                </a:solidFill>
                <a:highlight>
                  <a:srgbClr val="FFFFFF"/>
                </a:highlight>
                <a:latin typeface="Times New Roman"/>
                <a:ea typeface="Times New Roman"/>
                <a:cs typeface="Times New Roman"/>
                <a:sym typeface="Times New Roman"/>
              </a:rPr>
              <a:t>:</a:t>
            </a:r>
            <a:endParaRPr sz="1200">
              <a:solidFill>
                <a:schemeClr val="dk1"/>
              </a:solidFill>
              <a:highlight>
                <a:srgbClr val="FFFFFF"/>
              </a:highlight>
              <a:latin typeface="Times New Roman"/>
              <a:ea typeface="Times New Roman"/>
              <a:cs typeface="Times New Roman"/>
              <a:sym typeface="Times New Roman"/>
            </a:endParaRPr>
          </a:p>
        </p:txBody>
      </p:sp>
      <p:graphicFrame>
        <p:nvGraphicFramePr>
          <p:cNvPr id="288" name="Google Shape;288;g3f52423cb84_0_106"/>
          <p:cNvGraphicFramePr/>
          <p:nvPr/>
        </p:nvGraphicFramePr>
        <p:xfrm>
          <a:off x="147000" y="2928475"/>
          <a:ext cx="3000000" cy="3000000"/>
        </p:xfrm>
        <a:graphic>
          <a:graphicData uri="http://schemas.openxmlformats.org/drawingml/2006/table">
            <a:tbl>
              <a:tblPr>
                <a:solidFill>
                  <a:srgbClr val="FFFFFF"/>
                </a:solidFill>
                <a:tableStyleId>{09F48A68-654B-446A-936C-5DC57466C457}</a:tableStyleId>
              </a:tblPr>
              <a:tblGrid>
                <a:gridCol w="1536275"/>
                <a:gridCol w="7607725"/>
              </a:tblGrid>
              <a:tr h="457200">
                <a:tc>
                  <a:txBody>
                    <a:bodyPr/>
                    <a:lstStyle/>
                    <a:p>
                      <a:pPr indent="0" lvl="0" marL="0" rtl="0" algn="l">
                        <a:lnSpc>
                          <a:spcPct val="142857"/>
                        </a:lnSpc>
                        <a:spcBef>
                          <a:spcPts val="0"/>
                        </a:spcBef>
                        <a:spcAft>
                          <a:spcPts val="0"/>
                        </a:spcAft>
                        <a:buNone/>
                      </a:pPr>
                      <a:r>
                        <a:rPr lang="en-US" sz="1450">
                          <a:solidFill>
                            <a:srgbClr val="202124"/>
                          </a:solidFill>
                          <a:highlight>
                            <a:srgbClr val="FFFFFF"/>
                          </a:highlight>
                          <a:latin typeface="Times New Roman"/>
                          <a:ea typeface="Times New Roman"/>
                          <a:cs typeface="Times New Roman"/>
                          <a:sym typeface="Times New Roman"/>
                        </a:rPr>
                        <a:t>Batch type</a:t>
                      </a:r>
                      <a:endParaRPr sz="1450">
                        <a:solidFill>
                          <a:srgbClr val="202124"/>
                        </a:solidFill>
                        <a:highlight>
                          <a:srgbClr val="FFFFFF"/>
                        </a:highlight>
                        <a:latin typeface="Times New Roman"/>
                        <a:ea typeface="Times New Roman"/>
                        <a:cs typeface="Times New Roman"/>
                        <a:sym typeface="Times New Roman"/>
                      </a:endParaRPr>
                    </a:p>
                  </a:txBody>
                  <a:tcPr marT="76200" marB="76200" marR="76200" marL="76200" anchor="ctr">
                    <a:solidFill>
                      <a:srgbClr val="E8EAED"/>
                    </a:solidFill>
                  </a:tcPr>
                </a:tc>
                <a:tc>
                  <a:txBody>
                    <a:bodyPr/>
                    <a:lstStyle/>
                    <a:p>
                      <a:pPr indent="0" lvl="0" marL="0" rtl="0" algn="l">
                        <a:lnSpc>
                          <a:spcPct val="142857"/>
                        </a:lnSpc>
                        <a:spcBef>
                          <a:spcPts val="0"/>
                        </a:spcBef>
                        <a:spcAft>
                          <a:spcPts val="0"/>
                        </a:spcAft>
                        <a:buNone/>
                      </a:pPr>
                      <a:r>
                        <a:rPr lang="en-US" sz="1450">
                          <a:solidFill>
                            <a:srgbClr val="202124"/>
                          </a:solidFill>
                          <a:highlight>
                            <a:srgbClr val="FFFFFF"/>
                          </a:highlight>
                          <a:latin typeface="Times New Roman"/>
                          <a:ea typeface="Times New Roman"/>
                          <a:cs typeface="Times New Roman"/>
                          <a:sym typeface="Times New Roman"/>
                        </a:rPr>
                        <a:t>When weights and bias updates occur</a:t>
                      </a:r>
                      <a:endParaRPr sz="1450">
                        <a:solidFill>
                          <a:srgbClr val="202124"/>
                        </a:solidFill>
                        <a:highlight>
                          <a:srgbClr val="FFFFFF"/>
                        </a:highlight>
                        <a:latin typeface="Times New Roman"/>
                        <a:ea typeface="Times New Roman"/>
                        <a:cs typeface="Times New Roman"/>
                        <a:sym typeface="Times New Roman"/>
                      </a:endParaRPr>
                    </a:p>
                  </a:txBody>
                  <a:tcPr marT="76200" marB="76200" marR="76200" marL="76200" anchor="ctr">
                    <a:solidFill>
                      <a:srgbClr val="E8EAED"/>
                    </a:solidFill>
                  </a:tcPr>
                </a:tc>
              </a:tr>
              <a:tr h="533400">
                <a:tc>
                  <a:txBody>
                    <a:bodyPr/>
                    <a:lstStyle/>
                    <a:p>
                      <a:pPr indent="0" lvl="0" marL="0" rtl="0" algn="l">
                        <a:lnSpc>
                          <a:spcPct val="142857"/>
                        </a:lnSpc>
                        <a:spcBef>
                          <a:spcPts val="0"/>
                        </a:spcBef>
                        <a:spcAft>
                          <a:spcPts val="0"/>
                        </a:spcAft>
                        <a:buNone/>
                      </a:pPr>
                      <a:r>
                        <a:rPr lang="en-US" sz="1450">
                          <a:solidFill>
                            <a:srgbClr val="202124"/>
                          </a:solidFill>
                          <a:highlight>
                            <a:srgbClr val="FFFFFF"/>
                          </a:highlight>
                          <a:latin typeface="Times New Roman"/>
                          <a:ea typeface="Times New Roman"/>
                          <a:cs typeface="Times New Roman"/>
                          <a:sym typeface="Times New Roman"/>
                        </a:rPr>
                        <a:t>Full batch</a:t>
                      </a:r>
                      <a:endParaRPr sz="1450">
                        <a:solidFill>
                          <a:srgbClr val="202124"/>
                        </a:solidFill>
                        <a:highlight>
                          <a:srgbClr val="FFFFFF"/>
                        </a:highlight>
                        <a:latin typeface="Times New Roman"/>
                        <a:ea typeface="Times New Roman"/>
                        <a:cs typeface="Times New Roman"/>
                        <a:sym typeface="Times New Roman"/>
                      </a:endParaRPr>
                    </a:p>
                  </a:txBody>
                  <a:tcPr marT="66675" marB="76200" marR="76200" marL="76200"/>
                </a:tc>
                <a:tc>
                  <a:txBody>
                    <a:bodyPr/>
                    <a:lstStyle/>
                    <a:p>
                      <a:pPr indent="0" lvl="0" marL="0" rtl="0" algn="l">
                        <a:lnSpc>
                          <a:spcPct val="142857"/>
                        </a:lnSpc>
                        <a:spcBef>
                          <a:spcPts val="0"/>
                        </a:spcBef>
                        <a:spcAft>
                          <a:spcPts val="0"/>
                        </a:spcAft>
                        <a:buNone/>
                      </a:pPr>
                      <a:r>
                        <a:rPr lang="en-US" sz="1450">
                          <a:solidFill>
                            <a:srgbClr val="202124"/>
                          </a:solidFill>
                          <a:highlight>
                            <a:srgbClr val="FFFFFF"/>
                          </a:highlight>
                          <a:latin typeface="Times New Roman"/>
                          <a:ea typeface="Times New Roman"/>
                          <a:cs typeface="Times New Roman"/>
                          <a:sym typeface="Times New Roman"/>
                        </a:rPr>
                        <a:t>After the model looks at all the examples in the dataset. For instance, if a dataset contains 1,000 examples and the model trains for 20 epochs, the model updates the weights and bias 20 times, once per epoch.</a:t>
                      </a:r>
                      <a:endParaRPr sz="1450">
                        <a:solidFill>
                          <a:srgbClr val="202124"/>
                        </a:solidFill>
                        <a:highlight>
                          <a:srgbClr val="FFFFFF"/>
                        </a:highlight>
                        <a:latin typeface="Times New Roman"/>
                        <a:ea typeface="Times New Roman"/>
                        <a:cs typeface="Times New Roman"/>
                        <a:sym typeface="Times New Roman"/>
                      </a:endParaRPr>
                    </a:p>
                  </a:txBody>
                  <a:tcPr marT="66675" marB="76200" marR="76200" marL="76200"/>
                </a:tc>
              </a:tr>
              <a:tr h="533400">
                <a:tc>
                  <a:txBody>
                    <a:bodyPr/>
                    <a:lstStyle/>
                    <a:p>
                      <a:pPr indent="0" lvl="0" marL="0" rtl="0" algn="l">
                        <a:lnSpc>
                          <a:spcPct val="142857"/>
                        </a:lnSpc>
                        <a:spcBef>
                          <a:spcPts val="0"/>
                        </a:spcBef>
                        <a:spcAft>
                          <a:spcPts val="0"/>
                        </a:spcAft>
                        <a:buNone/>
                      </a:pPr>
                      <a:r>
                        <a:rPr lang="en-US" sz="1450">
                          <a:solidFill>
                            <a:srgbClr val="202124"/>
                          </a:solidFill>
                          <a:highlight>
                            <a:srgbClr val="FFFFFF"/>
                          </a:highlight>
                          <a:latin typeface="Times New Roman"/>
                          <a:ea typeface="Times New Roman"/>
                          <a:cs typeface="Times New Roman"/>
                          <a:sym typeface="Times New Roman"/>
                        </a:rPr>
                        <a:t>Stochastic gradient descent</a:t>
                      </a:r>
                      <a:endParaRPr sz="1450">
                        <a:solidFill>
                          <a:srgbClr val="202124"/>
                        </a:solidFill>
                        <a:highlight>
                          <a:srgbClr val="FFFFFF"/>
                        </a:highlight>
                        <a:latin typeface="Times New Roman"/>
                        <a:ea typeface="Times New Roman"/>
                        <a:cs typeface="Times New Roman"/>
                        <a:sym typeface="Times New Roman"/>
                      </a:endParaRPr>
                    </a:p>
                  </a:txBody>
                  <a:tcPr marT="66675" marB="76200" marR="76200" marL="76200"/>
                </a:tc>
                <a:tc>
                  <a:txBody>
                    <a:bodyPr/>
                    <a:lstStyle/>
                    <a:p>
                      <a:pPr indent="0" lvl="0" marL="0" rtl="0" algn="l">
                        <a:lnSpc>
                          <a:spcPct val="142857"/>
                        </a:lnSpc>
                        <a:spcBef>
                          <a:spcPts val="0"/>
                        </a:spcBef>
                        <a:spcAft>
                          <a:spcPts val="0"/>
                        </a:spcAft>
                        <a:buNone/>
                      </a:pPr>
                      <a:r>
                        <a:rPr lang="en-US" sz="1450">
                          <a:solidFill>
                            <a:srgbClr val="202124"/>
                          </a:solidFill>
                          <a:highlight>
                            <a:srgbClr val="FFFFFF"/>
                          </a:highlight>
                          <a:latin typeface="Times New Roman"/>
                          <a:ea typeface="Times New Roman"/>
                          <a:cs typeface="Times New Roman"/>
                          <a:sym typeface="Times New Roman"/>
                        </a:rPr>
                        <a:t>After the model looks at a single example from the dataset. For instance, if a dataset contains 1,000 examples and trains for 20 epochs, the model updates the weights and bias 20,000 times.</a:t>
                      </a:r>
                      <a:endParaRPr sz="1450">
                        <a:solidFill>
                          <a:srgbClr val="202124"/>
                        </a:solidFill>
                        <a:highlight>
                          <a:srgbClr val="FFFFFF"/>
                        </a:highlight>
                        <a:latin typeface="Times New Roman"/>
                        <a:ea typeface="Times New Roman"/>
                        <a:cs typeface="Times New Roman"/>
                        <a:sym typeface="Times New Roman"/>
                      </a:endParaRPr>
                    </a:p>
                  </a:txBody>
                  <a:tcPr marT="66675" marB="76200" marR="76200" marL="76200"/>
                </a:tc>
              </a:tr>
              <a:tr h="533400">
                <a:tc>
                  <a:txBody>
                    <a:bodyPr/>
                    <a:lstStyle/>
                    <a:p>
                      <a:pPr indent="0" lvl="0" marL="0" rtl="0" algn="l">
                        <a:lnSpc>
                          <a:spcPct val="142857"/>
                        </a:lnSpc>
                        <a:spcBef>
                          <a:spcPts val="0"/>
                        </a:spcBef>
                        <a:spcAft>
                          <a:spcPts val="0"/>
                        </a:spcAft>
                        <a:buNone/>
                      </a:pPr>
                      <a:r>
                        <a:rPr lang="en-US" sz="1450">
                          <a:solidFill>
                            <a:srgbClr val="202124"/>
                          </a:solidFill>
                          <a:highlight>
                            <a:srgbClr val="FFFFFF"/>
                          </a:highlight>
                          <a:latin typeface="Times New Roman"/>
                          <a:ea typeface="Times New Roman"/>
                          <a:cs typeface="Times New Roman"/>
                          <a:sym typeface="Times New Roman"/>
                        </a:rPr>
                        <a:t>Mini-batch stochastic gradient descent</a:t>
                      </a:r>
                      <a:endParaRPr sz="1450">
                        <a:solidFill>
                          <a:srgbClr val="202124"/>
                        </a:solidFill>
                        <a:highlight>
                          <a:srgbClr val="FFFFFF"/>
                        </a:highlight>
                        <a:latin typeface="Times New Roman"/>
                        <a:ea typeface="Times New Roman"/>
                        <a:cs typeface="Times New Roman"/>
                        <a:sym typeface="Times New Roman"/>
                      </a:endParaRPr>
                    </a:p>
                  </a:txBody>
                  <a:tcPr marT="66675" marB="76200" marR="76200" marL="76200"/>
                </a:tc>
                <a:tc>
                  <a:txBody>
                    <a:bodyPr/>
                    <a:lstStyle/>
                    <a:p>
                      <a:pPr indent="0" lvl="0" marL="0" rtl="0" algn="l">
                        <a:lnSpc>
                          <a:spcPct val="142857"/>
                        </a:lnSpc>
                        <a:spcBef>
                          <a:spcPts val="0"/>
                        </a:spcBef>
                        <a:spcAft>
                          <a:spcPts val="0"/>
                        </a:spcAft>
                        <a:buNone/>
                      </a:pPr>
                      <a:r>
                        <a:rPr lang="en-US" sz="1450">
                          <a:solidFill>
                            <a:srgbClr val="202124"/>
                          </a:solidFill>
                          <a:highlight>
                            <a:srgbClr val="FFFFFF"/>
                          </a:highlight>
                          <a:latin typeface="Times New Roman"/>
                          <a:ea typeface="Times New Roman"/>
                          <a:cs typeface="Times New Roman"/>
                          <a:sym typeface="Times New Roman"/>
                        </a:rPr>
                        <a:t>After the model looks at the examples in each batch. For instance, if a dataset contains 1,000 examples, and the batch size is 100, and the model trains for 20 epochs, the model updates the weights and bias 200 times.</a:t>
                      </a:r>
                      <a:endParaRPr sz="1450">
                        <a:solidFill>
                          <a:srgbClr val="202124"/>
                        </a:solidFill>
                        <a:highlight>
                          <a:srgbClr val="FFFFFF"/>
                        </a:highlight>
                        <a:latin typeface="Times New Roman"/>
                        <a:ea typeface="Times New Roman"/>
                        <a:cs typeface="Times New Roman"/>
                        <a:sym typeface="Times New Roman"/>
                      </a:endParaRPr>
                    </a:p>
                  </a:txBody>
                  <a:tcPr marT="66675" marB="76200" marR="76200" marL="76200"/>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f52423cb84_0_114"/>
          <p:cNvSpPr txBox="1"/>
          <p:nvPr/>
        </p:nvSpPr>
        <p:spPr>
          <a:xfrm>
            <a:off x="0" y="285375"/>
            <a:ext cx="9001500" cy="27861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3600"/>
              </a:spcBef>
              <a:spcAft>
                <a:spcPts val="0"/>
              </a:spcAft>
              <a:buNone/>
            </a:pPr>
            <a:r>
              <a:rPr b="1" lang="en-US" sz="1500">
                <a:solidFill>
                  <a:srgbClr val="202124"/>
                </a:solidFill>
                <a:highlight>
                  <a:srgbClr val="FFFFFF"/>
                </a:highlight>
                <a:latin typeface="Times New Roman"/>
                <a:ea typeface="Times New Roman"/>
                <a:cs typeface="Times New Roman"/>
                <a:sym typeface="Times New Roman"/>
              </a:rPr>
              <a:t>Epochs:- </a:t>
            </a:r>
            <a:r>
              <a:rPr lang="en-US" sz="1500">
                <a:solidFill>
                  <a:schemeClr val="dk1"/>
                </a:solidFill>
                <a:highlight>
                  <a:srgbClr val="FFFFFF"/>
                </a:highlight>
                <a:latin typeface="Times New Roman"/>
                <a:ea typeface="Times New Roman"/>
                <a:cs typeface="Times New Roman"/>
                <a:sym typeface="Times New Roman"/>
              </a:rPr>
              <a:t>During training, an </a:t>
            </a:r>
            <a:r>
              <a:rPr b="1" lang="en-US" sz="1500">
                <a:solidFill>
                  <a:schemeClr val="dk1"/>
                </a:solidFill>
                <a:highlight>
                  <a:srgbClr val="FFFFFF"/>
                </a:highlight>
                <a:uFill>
                  <a:noFill/>
                </a:uFill>
                <a:latin typeface="Times New Roman"/>
                <a:ea typeface="Times New Roman"/>
                <a:cs typeface="Times New Roman"/>
                <a:sym typeface="Times New Roman"/>
                <a:hlinkClick r:id="rId3">
                  <a:extLst>
                    <a:ext uri="{A12FA001-AC4F-418D-AE19-62706E023703}">
                      <ahyp:hlinkClr val="tx"/>
                    </a:ext>
                  </a:extLst>
                </a:hlinkClick>
              </a:rPr>
              <a:t>epoch</a:t>
            </a:r>
            <a:r>
              <a:rPr lang="en-US" sz="1500">
                <a:solidFill>
                  <a:schemeClr val="dk1"/>
                </a:solidFill>
                <a:highlight>
                  <a:srgbClr val="FFFFFF"/>
                </a:highlight>
                <a:latin typeface="Times New Roman"/>
                <a:ea typeface="Times New Roman"/>
                <a:cs typeface="Times New Roman"/>
                <a:sym typeface="Times New Roman"/>
              </a:rPr>
              <a:t> means that the model has processed every example in the training set </a:t>
            </a:r>
            <a:r>
              <a:rPr i="1" lang="en-US" sz="1500">
                <a:solidFill>
                  <a:schemeClr val="dk1"/>
                </a:solidFill>
                <a:highlight>
                  <a:srgbClr val="FFFFFF"/>
                </a:highlight>
                <a:latin typeface="Times New Roman"/>
                <a:ea typeface="Times New Roman"/>
                <a:cs typeface="Times New Roman"/>
                <a:sym typeface="Times New Roman"/>
              </a:rPr>
              <a:t>once</a:t>
            </a:r>
            <a:r>
              <a:rPr lang="en-US" sz="1500">
                <a:solidFill>
                  <a:schemeClr val="dk1"/>
                </a:solidFill>
                <a:highlight>
                  <a:srgbClr val="FFFFFF"/>
                </a:highlight>
                <a:latin typeface="Times New Roman"/>
                <a:ea typeface="Times New Roman"/>
                <a:cs typeface="Times New Roman"/>
                <a:sym typeface="Times New Roman"/>
              </a:rPr>
              <a:t>. For example, given a training set with 1,000 examples and a mini-batch size of 100 examples, it will take the model 10 </a:t>
            </a:r>
            <a:r>
              <a:rPr b="1" lang="en-US" sz="1500">
                <a:solidFill>
                  <a:schemeClr val="dk1"/>
                </a:solidFill>
                <a:highlight>
                  <a:srgbClr val="FFFFFF"/>
                </a:highlight>
                <a:uFill>
                  <a:noFill/>
                </a:uFill>
                <a:latin typeface="Times New Roman"/>
                <a:ea typeface="Times New Roman"/>
                <a:cs typeface="Times New Roman"/>
                <a:sym typeface="Times New Roman"/>
                <a:hlinkClick r:id="rId4">
                  <a:extLst>
                    <a:ext uri="{A12FA001-AC4F-418D-AE19-62706E023703}">
                      <ahyp:hlinkClr val="tx"/>
                    </a:ext>
                  </a:extLst>
                </a:hlinkClick>
              </a:rPr>
              <a:t>iterations</a:t>
            </a:r>
            <a:r>
              <a:rPr lang="en-US" sz="1500">
                <a:solidFill>
                  <a:schemeClr val="dk1"/>
                </a:solidFill>
                <a:highlight>
                  <a:srgbClr val="FFFFFF"/>
                </a:highlight>
                <a:latin typeface="Times New Roman"/>
                <a:ea typeface="Times New Roman"/>
                <a:cs typeface="Times New Roman"/>
                <a:sym typeface="Times New Roman"/>
              </a:rPr>
              <a:t> to complete one epoch.</a:t>
            </a:r>
            <a:endParaRPr sz="15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lang="en-US" sz="1500">
                <a:solidFill>
                  <a:schemeClr val="dk1"/>
                </a:solidFill>
                <a:highlight>
                  <a:srgbClr val="FFFFFF"/>
                </a:highlight>
                <a:latin typeface="Times New Roman"/>
                <a:ea typeface="Times New Roman"/>
                <a:cs typeface="Times New Roman"/>
                <a:sym typeface="Times New Roman"/>
              </a:rPr>
              <a:t>Training typically requires many epochs. That is, the system needs to process every example in the training set multiple times.</a:t>
            </a:r>
            <a:endParaRPr sz="15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sz="1500">
                <a:solidFill>
                  <a:schemeClr val="dk1"/>
                </a:solidFill>
                <a:highlight>
                  <a:srgbClr val="FFFFFF"/>
                </a:highlight>
                <a:latin typeface="Times New Roman"/>
                <a:ea typeface="Times New Roman"/>
                <a:cs typeface="Times New Roman"/>
                <a:sym typeface="Times New Roman"/>
              </a:rPr>
              <a:t>The number of epochs is a hyperparameter you set before the model begins training. In many cases, you'll need to experiment with how many epochs it takes for the model to converge. In general, more epochs produces a better model, but also takes more time to train.</a:t>
            </a:r>
            <a:endParaRPr sz="1500">
              <a:solidFill>
                <a:schemeClr val="dk1"/>
              </a:solidFill>
              <a:highlight>
                <a:srgbClr val="FFFFFF"/>
              </a:highlight>
              <a:latin typeface="Times New Roman"/>
              <a:ea typeface="Times New Roman"/>
              <a:cs typeface="Times New Roman"/>
              <a:sym typeface="Times New Roman"/>
            </a:endParaRPr>
          </a:p>
        </p:txBody>
      </p:sp>
      <p:pic>
        <p:nvPicPr>
          <p:cNvPr id="294" name="Google Shape;294;g3f52423cb84_0_114"/>
          <p:cNvPicPr preferRelativeResize="0"/>
          <p:nvPr/>
        </p:nvPicPr>
        <p:blipFill>
          <a:blip r:embed="rId5">
            <a:alphaModFix/>
          </a:blip>
          <a:stretch>
            <a:fillRect/>
          </a:stretch>
        </p:blipFill>
        <p:spPr>
          <a:xfrm>
            <a:off x="1855425" y="3144425"/>
            <a:ext cx="5594532" cy="31469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descr="/mnt/data/combined_gd_assets/V07.png" id="299" name="Google Shape;299;p17"/>
          <p:cNvPicPr preferRelativeResize="0"/>
          <p:nvPr/>
        </p:nvPicPr>
        <p:blipFill rotWithShape="1">
          <a:blip r:embed="rId3">
            <a:alphaModFix/>
          </a:blip>
          <a:srcRect b="0" l="0" r="0" t="0"/>
          <a:stretch/>
        </p:blipFill>
        <p:spPr>
          <a:xfrm>
            <a:off x="-86750" y="3827775"/>
            <a:ext cx="4478801" cy="2499800"/>
          </a:xfrm>
          <a:prstGeom prst="rect">
            <a:avLst/>
          </a:prstGeom>
          <a:noFill/>
          <a:ln>
            <a:noFill/>
          </a:ln>
        </p:spPr>
      </p:pic>
      <p:pic>
        <p:nvPicPr>
          <p:cNvPr descr="/mnt/data/combined_gd_assets/G07.png" id="300" name="Google Shape;300;p17"/>
          <p:cNvPicPr preferRelativeResize="0"/>
          <p:nvPr/>
        </p:nvPicPr>
        <p:blipFill rotWithShape="1">
          <a:blip r:embed="rId4">
            <a:alphaModFix/>
          </a:blip>
          <a:srcRect b="0" l="0" r="0" t="0"/>
          <a:stretch/>
        </p:blipFill>
        <p:spPr>
          <a:xfrm>
            <a:off x="4507425" y="3739725"/>
            <a:ext cx="4636576" cy="2587851"/>
          </a:xfrm>
          <a:prstGeom prst="rect">
            <a:avLst/>
          </a:prstGeom>
          <a:noFill/>
          <a:ln>
            <a:noFill/>
          </a:ln>
        </p:spPr>
      </p:pic>
      <p:sp>
        <p:nvSpPr>
          <p:cNvPr id="301" name="Google Shape;301;p17"/>
          <p:cNvSpPr txBox="1"/>
          <p:nvPr/>
        </p:nvSpPr>
        <p:spPr>
          <a:xfrm>
            <a:off x="0" y="460250"/>
            <a:ext cx="9144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chemeClr val="dk1"/>
                </a:solidFill>
                <a:highlight>
                  <a:srgbClr val="FFFFFF"/>
                </a:highlight>
                <a:latin typeface="Times New Roman"/>
                <a:ea typeface="Times New Roman"/>
                <a:cs typeface="Times New Roman"/>
                <a:sym typeface="Times New Roman"/>
              </a:rPr>
              <a:t>A state reached when </a:t>
            </a:r>
            <a:r>
              <a:rPr b="1" lang="en-US" sz="1200">
                <a:solidFill>
                  <a:schemeClr val="dk1"/>
                </a:solidFill>
                <a:highlight>
                  <a:srgbClr val="FFFFFF"/>
                </a:highlight>
                <a:uFill>
                  <a:noFill/>
                </a:uFill>
                <a:latin typeface="Times New Roman"/>
                <a:ea typeface="Times New Roman"/>
                <a:cs typeface="Times New Roman"/>
                <a:sym typeface="Times New Roman"/>
                <a:hlinkClick r:id="rId5">
                  <a:extLst>
                    <a:ext uri="{A12FA001-AC4F-418D-AE19-62706E023703}">
                      <ahyp:hlinkClr val="tx"/>
                    </a:ext>
                  </a:extLst>
                </a:hlinkClick>
              </a:rPr>
              <a:t>loss</a:t>
            </a:r>
            <a:r>
              <a:rPr lang="en-US" sz="1200">
                <a:solidFill>
                  <a:schemeClr val="dk1"/>
                </a:solidFill>
                <a:highlight>
                  <a:srgbClr val="FFFFFF"/>
                </a:highlight>
                <a:latin typeface="Times New Roman"/>
                <a:ea typeface="Times New Roman"/>
                <a:cs typeface="Times New Roman"/>
                <a:sym typeface="Times New Roman"/>
              </a:rPr>
              <a:t> values change very little or not at all with each </a:t>
            </a:r>
            <a:r>
              <a:rPr b="1" lang="en-US" sz="1200">
                <a:solidFill>
                  <a:schemeClr val="dk1"/>
                </a:solidFill>
                <a:highlight>
                  <a:srgbClr val="FFFFFF"/>
                </a:highlight>
                <a:uFill>
                  <a:noFill/>
                </a:uFill>
                <a:latin typeface="Times New Roman"/>
                <a:ea typeface="Times New Roman"/>
                <a:cs typeface="Times New Roman"/>
                <a:sym typeface="Times New Roman"/>
                <a:hlinkClick r:id="rId6">
                  <a:extLst>
                    <a:ext uri="{A12FA001-AC4F-418D-AE19-62706E023703}">
                      <ahyp:hlinkClr val="tx"/>
                    </a:ext>
                  </a:extLst>
                </a:hlinkClick>
              </a:rPr>
              <a:t>iteration</a:t>
            </a:r>
            <a:r>
              <a:rPr lang="en-US" sz="1200">
                <a:solidFill>
                  <a:schemeClr val="dk1"/>
                </a:solidFill>
                <a:highlight>
                  <a:srgbClr val="FFFFFF"/>
                </a:highlight>
                <a:latin typeface="Times New Roman"/>
                <a:ea typeface="Times New Roman"/>
                <a:cs typeface="Times New Roman"/>
                <a:sym typeface="Times New Roman"/>
              </a:rPr>
              <a:t> is known as Convergence. </a:t>
            </a:r>
            <a:r>
              <a:rPr lang="en-US" sz="1200">
                <a:solidFill>
                  <a:schemeClr val="dk1"/>
                </a:solidFill>
                <a:highlight>
                  <a:srgbClr val="FFFFFF"/>
                </a:highlight>
                <a:latin typeface="Times New Roman"/>
                <a:ea typeface="Times New Roman"/>
                <a:cs typeface="Times New Roman"/>
                <a:sym typeface="Times New Roman"/>
              </a:rPr>
              <a:t> For example, the following </a:t>
            </a:r>
            <a:r>
              <a:rPr b="1" lang="en-US" sz="1200">
                <a:solidFill>
                  <a:schemeClr val="dk1"/>
                </a:solidFill>
                <a:highlight>
                  <a:srgbClr val="FFFFFF"/>
                </a:highlight>
                <a:uFill>
                  <a:noFill/>
                </a:uFill>
                <a:latin typeface="Times New Roman"/>
                <a:ea typeface="Times New Roman"/>
                <a:cs typeface="Times New Roman"/>
                <a:sym typeface="Times New Roman"/>
                <a:hlinkClick r:id="rId7">
                  <a:extLst>
                    <a:ext uri="{A12FA001-AC4F-418D-AE19-62706E023703}">
                      <ahyp:hlinkClr val="tx"/>
                    </a:ext>
                  </a:extLst>
                </a:hlinkClick>
              </a:rPr>
              <a:t>loss curve</a:t>
            </a:r>
            <a:r>
              <a:rPr lang="en-US" sz="1200">
                <a:solidFill>
                  <a:schemeClr val="dk1"/>
                </a:solidFill>
                <a:highlight>
                  <a:srgbClr val="FFFFFF"/>
                </a:highlight>
                <a:latin typeface="Times New Roman"/>
                <a:ea typeface="Times New Roman"/>
                <a:cs typeface="Times New Roman"/>
                <a:sym typeface="Times New Roman"/>
              </a:rPr>
              <a:t> suggests convergence at around 700 iterations:</a:t>
            </a:r>
            <a:r>
              <a:rPr lang="en-US" sz="1100">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p:txBody>
      </p:sp>
      <p:pic>
        <p:nvPicPr>
          <p:cNvPr id="302" name="Google Shape;302;p17"/>
          <p:cNvPicPr preferRelativeResize="0"/>
          <p:nvPr/>
        </p:nvPicPr>
        <p:blipFill>
          <a:blip r:embed="rId8">
            <a:alphaModFix/>
          </a:blip>
          <a:stretch>
            <a:fillRect/>
          </a:stretch>
        </p:blipFill>
        <p:spPr>
          <a:xfrm>
            <a:off x="2637825" y="1093125"/>
            <a:ext cx="3166042" cy="2420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f52423cb84_0_128"/>
          <p:cNvSpPr txBox="1"/>
          <p:nvPr>
            <p:ph type="title"/>
          </p:nvPr>
        </p:nvSpPr>
        <p:spPr>
          <a:xfrm>
            <a:off x="311700" y="491767"/>
            <a:ext cx="85206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Code </a:t>
            </a:r>
            <a:endParaRPr/>
          </a:p>
        </p:txBody>
      </p:sp>
      <p:sp>
        <p:nvSpPr>
          <p:cNvPr id="309" name="Google Shape;309;g3f52423cb84_0_128"/>
          <p:cNvSpPr txBox="1"/>
          <p:nvPr>
            <p:ph idx="1" type="body"/>
          </p:nvPr>
        </p:nvSpPr>
        <p:spPr>
          <a:xfrm>
            <a:off x="311700" y="1419388"/>
            <a:ext cx="8520600" cy="46722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u="sng">
                <a:solidFill>
                  <a:schemeClr val="hlink"/>
                </a:solidFill>
                <a:hlinkClick r:id="rId3"/>
              </a:rPr>
              <a:t>https://colab.research.google.com/drive/1al3JRKx_Z0HHJNk_i4IQdJ-LSo0lfLl2#scrollTo=bc7650e8</a:t>
            </a:r>
            <a:r>
              <a:rPr lang="en-US"/>
              <a:t> </a:t>
            </a:r>
            <a:endParaRPr/>
          </a:p>
        </p:txBody>
      </p:sp>
      <p:sp>
        <p:nvSpPr>
          <p:cNvPr id="310" name="Google Shape;310;g3f52423cb84_0_128"/>
          <p:cNvSpPr txBox="1"/>
          <p:nvPr>
            <p:ph idx="12" type="sldNum"/>
          </p:nvPr>
        </p:nvSpPr>
        <p:spPr>
          <a:xfrm>
            <a:off x="8415300" y="6408364"/>
            <a:ext cx="548700" cy="401400"/>
          </a:xfrm>
          <a:prstGeom prst="rect">
            <a:avLst/>
          </a:prstGeom>
        </p:spPr>
        <p:txBody>
          <a:bodyPr anchorCtr="0" anchor="ctr" bIns="121900" lIns="121900" spcFirstLastPara="1" rIns="121900" wrap="square" tIns="1219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Shivangi Singh</dc:creator>
</cp:coreProperties>
</file>